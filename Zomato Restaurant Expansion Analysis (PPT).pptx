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9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10.xml" ContentType="application/vnd.openxmlformats-officedocument.presentationml.notesSl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notesSlides/notesSlide11.xml" ContentType="application/vnd.openxmlformats-officedocument.presentationml.notesSlid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notesSlides/notesSlide12.xml" ContentType="application/vnd.openxmlformats-officedocument.presentationml.notesSlid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72" r:id="rId7"/>
    <p:sldId id="273" r:id="rId8"/>
    <p:sldId id="274" r:id="rId9"/>
    <p:sldId id="277" r:id="rId10"/>
    <p:sldId id="278" r:id="rId11"/>
    <p:sldId id="275" r:id="rId12"/>
    <p:sldId id="276" r:id="rId13"/>
    <p:sldId id="279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0"/>
  </p:normalViewPr>
  <p:slideViewPr>
    <p:cSldViewPr snapToGrid="0" snapToObjects="1">
      <p:cViewPr>
        <p:scale>
          <a:sx n="100" d="100"/>
          <a:sy n="100" d="100"/>
        </p:scale>
        <p:origin x="974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onal\OneDrive\Desktop\Template%20(Zomato)(AutoRecovered)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onal\OneDrive\Desktop\Template%20(Zomato)(AutoRecovered)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onal\OneDrive\Desktop\Template%20(Zomato)(AutoRecovered)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onal\OneDrive\Desktop\Template%20(Zomato)(AutoRecovered)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onal\OneDrive\Desktop\Template%20(Zomato)(AutoRecovered)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onal\OneDrive\Desktop\Template%20(Zomato)%201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onal\OneDrive\Desktop\Template%20(Zomato)(AutoRecovered)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onal\OneDrive\Desktop\Template%20(Zomato)(AutoRecovered)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onal\OneDrive\Desktop\Template%20(Zomato)(AutoRecovered)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[Template (Zomato)(AutoRecovered).xlsx]Q-6 I Objective!Count of restaurnat country wise</c:name>
    <c:fmtId val="20"/>
  </c:pivotSource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 i="0" u="none" strike="noStrik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pPr>
            <a:r>
              <a:rPr lang="en-US" sz="1600" b="1" i="0" u="none" strike="noStrike" kern="1200" baseline="0" dirty="0">
                <a:solidFill>
                  <a:srgbClr val="000000"/>
                </a:solidFill>
              </a:rPr>
              <a:t>Count of Restaurants Country-Wise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600" b="1" i="0" u="none" strike="noStrike" kern="1200" baseline="0">
              <a:solidFill>
                <a:srgbClr val="000000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rgbClr val="FF000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solidFill>
              <a:schemeClr val="bg2"/>
            </a:solidFill>
            <a:ln>
              <a:solidFill>
                <a:schemeClr val="tx1"/>
              </a:solidFill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rgbClr val="FF000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solidFill>
              <a:schemeClr val="bg2"/>
            </a:solidFill>
            <a:ln>
              <a:solidFill>
                <a:schemeClr val="tx1"/>
              </a:solidFill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rgbClr val="FF000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solidFill>
              <a:schemeClr val="bg2"/>
            </a:solidFill>
            <a:ln>
              <a:solidFill>
                <a:schemeClr val="tx1"/>
              </a:solidFill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'Q-6 I Objective'!$C$7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dLbls>
            <c:spPr>
              <a:solidFill>
                <a:schemeClr val="bg2"/>
              </a:solidFill>
              <a:ln>
                <a:solidFill>
                  <a:schemeClr val="tx1"/>
                </a:solidFill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'Q-6 I Objective'!$B$8:$B$23</c:f>
              <c:strCache>
                <c:ptCount val="15"/>
                <c:pt idx="0">
                  <c:v>Australia</c:v>
                </c:pt>
                <c:pt idx="1">
                  <c:v>Brazil</c:v>
                </c:pt>
                <c:pt idx="2">
                  <c:v>Canada</c:v>
                </c:pt>
                <c:pt idx="3">
                  <c:v>India</c:v>
                </c:pt>
                <c:pt idx="4">
                  <c:v>Indonesia</c:v>
                </c:pt>
                <c:pt idx="5">
                  <c:v>New Zealand</c:v>
                </c:pt>
                <c:pt idx="6">
                  <c:v>Philippines</c:v>
                </c:pt>
                <c:pt idx="7">
                  <c:v>Qatar</c:v>
                </c:pt>
                <c:pt idx="8">
                  <c:v>Singapore</c:v>
                </c:pt>
                <c:pt idx="9">
                  <c:v>South Africa</c:v>
                </c:pt>
                <c:pt idx="10">
                  <c:v>Sri Lanka</c:v>
                </c:pt>
                <c:pt idx="11">
                  <c:v>Turkey</c:v>
                </c:pt>
                <c:pt idx="12">
                  <c:v>United Arab Emirates</c:v>
                </c:pt>
                <c:pt idx="13">
                  <c:v>United Kingdom</c:v>
                </c:pt>
                <c:pt idx="14">
                  <c:v>United States of America</c:v>
                </c:pt>
              </c:strCache>
            </c:strRef>
          </c:cat>
          <c:val>
            <c:numRef>
              <c:f>'Q-6 I Objective'!$C$8:$C$23</c:f>
              <c:numCache>
                <c:formatCode>General</c:formatCode>
                <c:ptCount val="15"/>
                <c:pt idx="0">
                  <c:v>24</c:v>
                </c:pt>
                <c:pt idx="1">
                  <c:v>60</c:v>
                </c:pt>
                <c:pt idx="2">
                  <c:v>4</c:v>
                </c:pt>
                <c:pt idx="3">
                  <c:v>8652</c:v>
                </c:pt>
                <c:pt idx="4">
                  <c:v>21</c:v>
                </c:pt>
                <c:pt idx="5">
                  <c:v>40</c:v>
                </c:pt>
                <c:pt idx="6">
                  <c:v>22</c:v>
                </c:pt>
                <c:pt idx="7">
                  <c:v>20</c:v>
                </c:pt>
                <c:pt idx="8">
                  <c:v>20</c:v>
                </c:pt>
                <c:pt idx="9">
                  <c:v>60</c:v>
                </c:pt>
                <c:pt idx="10">
                  <c:v>20</c:v>
                </c:pt>
                <c:pt idx="11">
                  <c:v>34</c:v>
                </c:pt>
                <c:pt idx="12">
                  <c:v>60</c:v>
                </c:pt>
                <c:pt idx="13">
                  <c:v>80</c:v>
                </c:pt>
                <c:pt idx="14">
                  <c:v>434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53F-4DFE-972B-CD587EC9A37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709439200"/>
        <c:axId val="709431520"/>
      </c:barChart>
      <c:catAx>
        <c:axId val="7094392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09431520"/>
        <c:crosses val="autoZero"/>
        <c:auto val="1"/>
        <c:lblAlgn val="ctr"/>
        <c:lblOffset val="100"/>
        <c:noMultiLvlLbl val="0"/>
      </c:catAx>
      <c:valAx>
        <c:axId val="70943152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0943920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rgbClr val="FF0000"/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[Template (Zomato)(AutoRecovered).xlsx]Q-7 I Objective!Count of Restaurants Year-Wise</c:name>
    <c:fmtId val="36"/>
  </c:pivotSource>
  <c:chart>
    <c:title>
      <c:tx>
        <c:rich>
          <a:bodyPr rot="0" spcFirstLastPara="1" vertOverflow="ellipsis" vert="horz" wrap="square" anchor="ctr" anchorCtr="1"/>
          <a:lstStyle/>
          <a:p>
            <a:pPr algn="l">
              <a:defRPr sz="1600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Count of Restaurants Year</a:t>
            </a:r>
            <a:r>
              <a:rPr lang="en-US" baseline="0"/>
              <a:t>-Wise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l">
            <a:defRPr sz="1600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rgbClr val="FF000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solidFill>
              <a:schemeClr val="bg2"/>
            </a:solidFill>
            <a:ln>
              <a:solidFill>
                <a:schemeClr val="tx1"/>
              </a:solidFill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rgbClr val="FF000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solidFill>
              <a:schemeClr val="bg2"/>
            </a:solidFill>
            <a:ln>
              <a:solidFill>
                <a:schemeClr val="tx1"/>
              </a:solidFill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rgbClr val="FF000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solidFill>
              <a:schemeClr val="bg2"/>
            </a:solidFill>
            <a:ln>
              <a:solidFill>
                <a:schemeClr val="tx1"/>
              </a:solidFill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'Q-7 I Objective'!$C$7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dLbls>
            <c:spPr>
              <a:solidFill>
                <a:schemeClr val="bg2"/>
              </a:solidFill>
              <a:ln>
                <a:solidFill>
                  <a:schemeClr val="tx1"/>
                </a:solidFill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'Q-7 I Objective'!$B$8:$B$17</c:f>
              <c:strCache>
                <c:ptCount val="9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</c:strCache>
            </c:strRef>
          </c:cat>
          <c:val>
            <c:numRef>
              <c:f>'Q-7 I Objective'!$C$8:$C$17</c:f>
              <c:numCache>
                <c:formatCode>General</c:formatCode>
                <c:ptCount val="9"/>
                <c:pt idx="0">
                  <c:v>1080</c:v>
                </c:pt>
                <c:pt idx="1">
                  <c:v>1098</c:v>
                </c:pt>
                <c:pt idx="2">
                  <c:v>1022</c:v>
                </c:pt>
                <c:pt idx="3">
                  <c:v>1061</c:v>
                </c:pt>
                <c:pt idx="4">
                  <c:v>1051</c:v>
                </c:pt>
                <c:pt idx="5">
                  <c:v>1024</c:v>
                </c:pt>
                <c:pt idx="6">
                  <c:v>1027</c:v>
                </c:pt>
                <c:pt idx="7">
                  <c:v>1086</c:v>
                </c:pt>
                <c:pt idx="8">
                  <c:v>1102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8FD-445F-9F40-B2491769D3F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465707903"/>
        <c:axId val="465704543"/>
      </c:barChart>
      <c:catAx>
        <c:axId val="4657079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65704543"/>
        <c:crosses val="autoZero"/>
        <c:auto val="1"/>
        <c:lblAlgn val="ctr"/>
        <c:lblOffset val="100"/>
        <c:noMultiLvlLbl val="0"/>
      </c:catAx>
      <c:valAx>
        <c:axId val="465704543"/>
        <c:scaling>
          <c:orientation val="minMax"/>
          <c:min val="1000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6570790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rgbClr val="FF0000"/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[Template (Zomato)(AutoRecovered).xlsx]Q-1 I Subjective!Average rating country-wise</c:name>
    <c:fmtId val="40"/>
  </c:pivotSource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lang="en-US" sz="1600" b="1" i="0" u="none" strike="noStrike" kern="1200" cap="none" spc="50" normalizeH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pPr>
            <a:r>
              <a:rPr lang="en-US" sz="1600" b="1" i="0" u="none" strike="noStrik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Average rating country-wise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lang="en-US" sz="1600" b="1" i="0" u="none" strike="noStrike" kern="1200" cap="none" spc="50" normalizeH="0" baseline="0">
              <a:solidFill>
                <a:srgbClr val="000000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rgbClr val="FF000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solidFill>
              <a:schemeClr val="bg2"/>
            </a:solidFill>
            <a:ln>
              <a:solidFill>
                <a:schemeClr val="tx1"/>
              </a:solidFill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rgbClr val="FF000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solidFill>
              <a:schemeClr val="bg2"/>
            </a:solidFill>
            <a:ln>
              <a:solidFill>
                <a:schemeClr val="tx1"/>
              </a:solidFill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rgbClr val="FF000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solidFill>
              <a:schemeClr val="bg2"/>
            </a:solidFill>
            <a:ln>
              <a:solidFill>
                <a:schemeClr val="tx1"/>
              </a:solidFill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'Q-1 I Subjective'!$H$7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dLbls>
            <c:spPr>
              <a:solidFill>
                <a:schemeClr val="bg2"/>
              </a:solidFill>
              <a:ln>
                <a:solidFill>
                  <a:schemeClr val="tx1"/>
                </a:solidFill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'Q-1 I Subjective'!$G$8:$G$23</c:f>
              <c:strCache>
                <c:ptCount val="15"/>
                <c:pt idx="0">
                  <c:v>Australia</c:v>
                </c:pt>
                <c:pt idx="1">
                  <c:v>Brazil</c:v>
                </c:pt>
                <c:pt idx="2">
                  <c:v>Canada</c:v>
                </c:pt>
                <c:pt idx="3">
                  <c:v>India</c:v>
                </c:pt>
                <c:pt idx="4">
                  <c:v>Indonesia</c:v>
                </c:pt>
                <c:pt idx="5">
                  <c:v>New Zealand</c:v>
                </c:pt>
                <c:pt idx="6">
                  <c:v>Philippines</c:v>
                </c:pt>
                <c:pt idx="7">
                  <c:v>Qatar</c:v>
                </c:pt>
                <c:pt idx="8">
                  <c:v>Singapore</c:v>
                </c:pt>
                <c:pt idx="9">
                  <c:v>South Africa</c:v>
                </c:pt>
                <c:pt idx="10">
                  <c:v>Sri Lanka</c:v>
                </c:pt>
                <c:pt idx="11">
                  <c:v>Turkey</c:v>
                </c:pt>
                <c:pt idx="12">
                  <c:v>United Arab Emirates</c:v>
                </c:pt>
                <c:pt idx="13">
                  <c:v>United Kingdom</c:v>
                </c:pt>
                <c:pt idx="14">
                  <c:v>United States of America</c:v>
                </c:pt>
              </c:strCache>
            </c:strRef>
          </c:cat>
          <c:val>
            <c:numRef>
              <c:f>'Q-1 I Subjective'!$H$8:$H$23</c:f>
              <c:numCache>
                <c:formatCode>0.00</c:formatCode>
                <c:ptCount val="15"/>
                <c:pt idx="0">
                  <c:v>3.6583333333333337</c:v>
                </c:pt>
                <c:pt idx="1">
                  <c:v>3.8466666666666667</c:v>
                </c:pt>
                <c:pt idx="2">
                  <c:v>3.5750000000000002</c:v>
                </c:pt>
                <c:pt idx="3">
                  <c:v>2.7705501618122987</c:v>
                </c:pt>
                <c:pt idx="4">
                  <c:v>4.295238095238096</c:v>
                </c:pt>
                <c:pt idx="5">
                  <c:v>4.2624999999999993</c:v>
                </c:pt>
                <c:pt idx="6">
                  <c:v>4.4681818181818187</c:v>
                </c:pt>
                <c:pt idx="7">
                  <c:v>4.0599999999999996</c:v>
                </c:pt>
                <c:pt idx="8">
                  <c:v>3.5750000000000002</c:v>
                </c:pt>
                <c:pt idx="9">
                  <c:v>4.2100000000000009</c:v>
                </c:pt>
                <c:pt idx="10">
                  <c:v>3.87</c:v>
                </c:pt>
                <c:pt idx="11">
                  <c:v>4.3</c:v>
                </c:pt>
                <c:pt idx="12">
                  <c:v>4.2333333333333352</c:v>
                </c:pt>
                <c:pt idx="13">
                  <c:v>4.0999999999999996</c:v>
                </c:pt>
                <c:pt idx="14">
                  <c:v>4.011290322580642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C00-4279-8106-E8A6EDACD5E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80"/>
        <c:overlap val="25"/>
        <c:axId val="869605776"/>
        <c:axId val="869589456"/>
      </c:barChart>
      <c:catAx>
        <c:axId val="8696057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587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none" spc="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69589456"/>
        <c:crosses val="autoZero"/>
        <c:auto val="1"/>
        <c:lblAlgn val="ctr"/>
        <c:lblOffset val="100"/>
        <c:noMultiLvlLbl val="0"/>
      </c:catAx>
      <c:valAx>
        <c:axId val="869589456"/>
        <c:scaling>
          <c:orientation val="minMax"/>
        </c:scaling>
        <c:delete val="0"/>
        <c:axPos val="l"/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spc="2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6960577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lt1"/>
    </a:solidFill>
    <a:ln w="9525" cap="flat" cmpd="sng" algn="ctr">
      <a:solidFill>
        <a:srgbClr val="FF0000"/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[Template (Zomato)(AutoRecovered).xlsx]Q-9 I Objective!Average number of votes Country wise</c:name>
    <c:fmtId val="2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Average number of votes Country wise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rgbClr val="FF000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solidFill>
              <a:schemeClr val="bg2"/>
            </a:solidFill>
            <a:ln>
              <a:solidFill>
                <a:schemeClr val="tx1"/>
              </a:solidFill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rgbClr val="FF000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solidFill>
              <a:schemeClr val="bg2"/>
            </a:solidFill>
            <a:ln>
              <a:solidFill>
                <a:schemeClr val="tx1"/>
              </a:solidFill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rgbClr val="FF000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solidFill>
              <a:schemeClr val="bg2"/>
            </a:solidFill>
            <a:ln>
              <a:solidFill>
                <a:schemeClr val="tx1"/>
              </a:solidFill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'Q-9 I Objective'!$C$7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dLbls>
            <c:spPr>
              <a:solidFill>
                <a:schemeClr val="bg2"/>
              </a:solidFill>
              <a:ln>
                <a:solidFill>
                  <a:schemeClr val="tx1"/>
                </a:solidFill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'Q-9 I Objective'!$B$8:$B$22</c:f>
              <c:strCache>
                <c:ptCount val="15"/>
                <c:pt idx="0">
                  <c:v>Australia</c:v>
                </c:pt>
                <c:pt idx="1">
                  <c:v>Brazil</c:v>
                </c:pt>
                <c:pt idx="2">
                  <c:v>Canada</c:v>
                </c:pt>
                <c:pt idx="3">
                  <c:v>India</c:v>
                </c:pt>
                <c:pt idx="4">
                  <c:v>Indonesia</c:v>
                </c:pt>
                <c:pt idx="5">
                  <c:v>New Zealand</c:v>
                </c:pt>
                <c:pt idx="6">
                  <c:v>Philippines</c:v>
                </c:pt>
                <c:pt idx="7">
                  <c:v>Qatar</c:v>
                </c:pt>
                <c:pt idx="8">
                  <c:v>Singapore</c:v>
                </c:pt>
                <c:pt idx="9">
                  <c:v>South Africa</c:v>
                </c:pt>
                <c:pt idx="10">
                  <c:v>Sri Lanka</c:v>
                </c:pt>
                <c:pt idx="11">
                  <c:v>Turkey</c:v>
                </c:pt>
                <c:pt idx="12">
                  <c:v>United Arab Emirates</c:v>
                </c:pt>
                <c:pt idx="13">
                  <c:v>United Kingdom</c:v>
                </c:pt>
                <c:pt idx="14">
                  <c:v>United States of America</c:v>
                </c:pt>
              </c:strCache>
            </c:strRef>
          </c:cat>
          <c:val>
            <c:numRef>
              <c:f>'Q-9 I Objective'!$C$8:$C$22</c:f>
              <c:numCache>
                <c:formatCode>0</c:formatCode>
                <c:ptCount val="15"/>
                <c:pt idx="0">
                  <c:v>111.41666666666667</c:v>
                </c:pt>
                <c:pt idx="1">
                  <c:v>19.616666666666667</c:v>
                </c:pt>
                <c:pt idx="2">
                  <c:v>103</c:v>
                </c:pt>
                <c:pt idx="3">
                  <c:v>137.21255201109571</c:v>
                </c:pt>
                <c:pt idx="4">
                  <c:v>772.09523809523807</c:v>
                </c:pt>
                <c:pt idx="5">
                  <c:v>243.02500000000001</c:v>
                </c:pt>
                <c:pt idx="6">
                  <c:v>407.40909090909093</c:v>
                </c:pt>
                <c:pt idx="7">
                  <c:v>163.80000000000001</c:v>
                </c:pt>
                <c:pt idx="8">
                  <c:v>31.9</c:v>
                </c:pt>
                <c:pt idx="9">
                  <c:v>315.16666666666669</c:v>
                </c:pt>
                <c:pt idx="10">
                  <c:v>146.44999999999999</c:v>
                </c:pt>
                <c:pt idx="11">
                  <c:v>431.47058823529414</c:v>
                </c:pt>
                <c:pt idx="12">
                  <c:v>493.51666666666665</c:v>
                </c:pt>
                <c:pt idx="13">
                  <c:v>205.48750000000001</c:v>
                </c:pt>
                <c:pt idx="14">
                  <c:v>428.22119815668202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ACD-4C73-B416-5A7469CFB3E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465673823"/>
        <c:axId val="465680543"/>
      </c:barChart>
      <c:catAx>
        <c:axId val="4656738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65680543"/>
        <c:crosses val="autoZero"/>
        <c:auto val="1"/>
        <c:lblAlgn val="ctr"/>
        <c:lblOffset val="100"/>
        <c:noMultiLvlLbl val="0"/>
      </c:catAx>
      <c:valAx>
        <c:axId val="465680543"/>
        <c:scaling>
          <c:orientation val="minMax"/>
        </c:scaling>
        <c:delete val="0"/>
        <c:axPos val="l"/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6567382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rgbClr val="FF0000"/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[Template (Zomato)(AutoRecovered).xlsx]Q-6 I Subjective!Top 10 Cuisines from the  countries </c:name>
    <c:fmtId val="32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Top 10 Cuisines from the  countries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7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8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9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2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3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4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5"/>
        <c:spPr>
          <a:solidFill>
            <a:srgbClr val="FF000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solidFill>
              <a:schemeClr val="bg2"/>
            </a:solidFill>
            <a:ln>
              <a:solidFill>
                <a:schemeClr val="tx1"/>
              </a:solidFill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6"/>
        <c:spPr>
          <a:solidFill>
            <a:srgbClr val="FF000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solidFill>
              <a:schemeClr val="bg2"/>
            </a:solidFill>
            <a:ln>
              <a:solidFill>
                <a:schemeClr val="tx1"/>
              </a:solidFill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7"/>
        <c:spPr>
          <a:solidFill>
            <a:srgbClr val="FF000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solidFill>
              <a:schemeClr val="bg2"/>
            </a:solidFill>
            <a:ln>
              <a:solidFill>
                <a:schemeClr val="tx1"/>
              </a:solidFill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'Q-6 I Subjective'!$J$7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dLbls>
            <c:spPr>
              <a:solidFill>
                <a:schemeClr val="bg2"/>
              </a:solidFill>
              <a:ln>
                <a:solidFill>
                  <a:schemeClr val="tx1"/>
                </a:solidFill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multiLvlStrRef>
              <c:f>'Q-6 I Subjective'!$H$8:$I$17</c:f>
              <c:multiLvlStrCache>
                <c:ptCount val="10"/>
                <c:lvl>
                  <c:pt idx="1">
                    <c:v>United States of America</c:v>
                  </c:pt>
                  <c:pt idx="2">
                    <c:v>India</c:v>
                  </c:pt>
                  <c:pt idx="3">
                    <c:v>United Arab Emirates</c:v>
                  </c:pt>
                  <c:pt idx="4">
                    <c:v>United States of America</c:v>
                  </c:pt>
                  <c:pt idx="5">
                    <c:v>India</c:v>
                  </c:pt>
                  <c:pt idx="6">
                    <c:v>India</c:v>
                  </c:pt>
                  <c:pt idx="7">
                    <c:v>United Kingdom</c:v>
                  </c:pt>
                  <c:pt idx="8">
                    <c:v>United States of America</c:v>
                  </c:pt>
                  <c:pt idx="9">
                    <c:v>Turkey</c:v>
                  </c:pt>
                </c:lvl>
                <c:lvl>
                  <c:pt idx="0">
                    <c:v>Sunda, Indonesian</c:v>
                  </c:pt>
                  <c:pt idx="1">
                    <c:v>Pizza, Sandwich</c:v>
                  </c:pt>
                  <c:pt idx="2">
                    <c:v>Mexican, American, Healthy Food</c:v>
                  </c:pt>
                  <c:pt idx="3">
                    <c:v>Indian, Continental</c:v>
                  </c:pt>
                  <c:pt idx="4">
                    <c:v>German</c:v>
                  </c:pt>
                  <c:pt idx="5">
                    <c:v>European, Desserts</c:v>
                  </c:pt>
                  <c:pt idx="6">
                    <c:v>Continental, Middle Eastern, Asian</c:v>
                  </c:pt>
                  <c:pt idx="7">
                    <c:v>Chinese, Dim Sum</c:v>
                  </c:pt>
                  <c:pt idx="8">
                    <c:v>Burger, Bar Food, Steak</c:v>
                  </c:pt>
                  <c:pt idx="9">
                    <c:v>Bar Food</c:v>
                  </c:pt>
                </c:lvl>
              </c:multiLvlStrCache>
            </c:multiLvlStrRef>
          </c:cat>
          <c:val>
            <c:numRef>
              <c:f>'Q-6 I Subjective'!$J$8:$J$17</c:f>
              <c:numCache>
                <c:formatCode>0.0</c:formatCode>
                <c:ptCount val="10"/>
                <c:pt idx="0">
                  <c:v>4.9000000000000004</c:v>
                </c:pt>
                <c:pt idx="1">
                  <c:v>4.7</c:v>
                </c:pt>
                <c:pt idx="2">
                  <c:v>4.9000000000000004</c:v>
                </c:pt>
                <c:pt idx="3">
                  <c:v>4.8</c:v>
                </c:pt>
                <c:pt idx="4">
                  <c:v>4.8</c:v>
                </c:pt>
                <c:pt idx="5">
                  <c:v>4.8</c:v>
                </c:pt>
                <c:pt idx="6">
                  <c:v>4.8</c:v>
                </c:pt>
                <c:pt idx="7">
                  <c:v>4.7</c:v>
                </c:pt>
                <c:pt idx="8">
                  <c:v>4.9000000000000004</c:v>
                </c:pt>
                <c:pt idx="9">
                  <c:v>4.9000000000000004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59B-4747-BECC-51AEAD2543F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2135092399"/>
        <c:axId val="2135088079"/>
      </c:barChart>
      <c:catAx>
        <c:axId val="213509239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35088079"/>
        <c:crosses val="autoZero"/>
        <c:auto val="1"/>
        <c:lblAlgn val="ctr"/>
        <c:lblOffset val="100"/>
        <c:noMultiLvlLbl val="0"/>
      </c:catAx>
      <c:valAx>
        <c:axId val="2135088079"/>
        <c:scaling>
          <c:orientation val="minMax"/>
        </c:scaling>
        <c:delete val="0"/>
        <c:axPos val="l"/>
        <c:numFmt formatCode="0.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35092399"/>
        <c:crosses val="autoZero"/>
        <c:crossBetween val="between"/>
      </c:valAx>
      <c:dTable>
        <c:showHorzBorder val="1"/>
        <c:showVertBorder val="1"/>
        <c:showOutline val="1"/>
        <c:showKeys val="0"/>
        <c:spPr>
          <a:noFill/>
          <a:ln w="9525">
            <a:solidFill>
              <a:schemeClr val="tx2">
                <a:lumMod val="15000"/>
                <a:lumOff val="85000"/>
              </a:schemeClr>
            </a:solidFill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rgbClr val="FF0000"/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[Template (Zomato) 1.xlsx]Q-6 I Subjective!Top 10 Cuisines from the  countries </c:name>
    <c:fmtId val="3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Top 10 Cuisines from the  countries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7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8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9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2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3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4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5"/>
        <c:spPr>
          <a:solidFill>
            <a:srgbClr val="FF000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solidFill>
              <a:schemeClr val="bg2"/>
            </a:solidFill>
            <a:ln>
              <a:solidFill>
                <a:schemeClr val="tx1"/>
              </a:solidFill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6"/>
        <c:spPr>
          <a:solidFill>
            <a:srgbClr val="FF000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solidFill>
              <a:schemeClr val="bg2"/>
            </a:solidFill>
            <a:ln>
              <a:solidFill>
                <a:schemeClr val="tx1"/>
              </a:solidFill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7"/>
        <c:spPr>
          <a:solidFill>
            <a:srgbClr val="FF000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solidFill>
              <a:schemeClr val="bg2"/>
            </a:solidFill>
            <a:ln>
              <a:solidFill>
                <a:schemeClr val="tx1"/>
              </a:solidFill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'Q-6 I Subjective'!$J$7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dLbls>
            <c:spPr>
              <a:solidFill>
                <a:schemeClr val="bg2"/>
              </a:solidFill>
              <a:ln>
                <a:solidFill>
                  <a:schemeClr val="tx1"/>
                </a:solidFill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multiLvlStrRef>
              <c:f>'Q-6 I Subjective'!$H$8:$I$17</c:f>
              <c:multiLvlStrCache>
                <c:ptCount val="10"/>
                <c:lvl>
                  <c:pt idx="0">
                    <c:v>Indonesia</c:v>
                  </c:pt>
                  <c:pt idx="1">
                    <c:v>United States of America</c:v>
                  </c:pt>
                  <c:pt idx="2">
                    <c:v>India</c:v>
                  </c:pt>
                  <c:pt idx="3">
                    <c:v>United Arab Emirates</c:v>
                  </c:pt>
                  <c:pt idx="4">
                    <c:v>United States of America</c:v>
                  </c:pt>
                  <c:pt idx="5">
                    <c:v>India</c:v>
                  </c:pt>
                  <c:pt idx="6">
                    <c:v>India</c:v>
                  </c:pt>
                  <c:pt idx="7">
                    <c:v>United Kingdom</c:v>
                  </c:pt>
                  <c:pt idx="8">
                    <c:v>United States of America</c:v>
                  </c:pt>
                  <c:pt idx="9">
                    <c:v>Turkey</c:v>
                  </c:pt>
                </c:lvl>
                <c:lvl>
                  <c:pt idx="0">
                    <c:v>Sunda, Indonesian</c:v>
                  </c:pt>
                  <c:pt idx="1">
                    <c:v>Pizza, Sandwich</c:v>
                  </c:pt>
                  <c:pt idx="2">
                    <c:v>Mexican, American, Healthy Food</c:v>
                  </c:pt>
                  <c:pt idx="3">
                    <c:v>Indian, Continental</c:v>
                  </c:pt>
                  <c:pt idx="4">
                    <c:v>German</c:v>
                  </c:pt>
                  <c:pt idx="5">
                    <c:v>European, Desserts</c:v>
                  </c:pt>
                  <c:pt idx="6">
                    <c:v>Continental, Middle Eastern, Asian</c:v>
                  </c:pt>
                  <c:pt idx="7">
                    <c:v>Chinese, Dim Sum</c:v>
                  </c:pt>
                  <c:pt idx="8">
                    <c:v>Burger, Bar Food, Steak</c:v>
                  </c:pt>
                  <c:pt idx="9">
                    <c:v>Bar Food</c:v>
                  </c:pt>
                </c:lvl>
              </c:multiLvlStrCache>
            </c:multiLvlStrRef>
          </c:cat>
          <c:val>
            <c:numRef>
              <c:f>'Q-6 I Subjective'!$J$8:$J$17</c:f>
              <c:numCache>
                <c:formatCode>0.0</c:formatCode>
                <c:ptCount val="10"/>
                <c:pt idx="0">
                  <c:v>4.9000000000000004</c:v>
                </c:pt>
                <c:pt idx="1">
                  <c:v>4.7</c:v>
                </c:pt>
                <c:pt idx="2">
                  <c:v>4.9000000000000004</c:v>
                </c:pt>
                <c:pt idx="3">
                  <c:v>4.8</c:v>
                </c:pt>
                <c:pt idx="4">
                  <c:v>4.8</c:v>
                </c:pt>
                <c:pt idx="5">
                  <c:v>4.8</c:v>
                </c:pt>
                <c:pt idx="6">
                  <c:v>4.8</c:v>
                </c:pt>
                <c:pt idx="7">
                  <c:v>4.7</c:v>
                </c:pt>
                <c:pt idx="8">
                  <c:v>4.9000000000000004</c:v>
                </c:pt>
                <c:pt idx="9">
                  <c:v>4.9000000000000004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442-44E2-BD70-FC071FB08EF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2135092399"/>
        <c:axId val="2135088079"/>
      </c:barChart>
      <c:catAx>
        <c:axId val="213509239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35088079"/>
        <c:crosses val="autoZero"/>
        <c:auto val="1"/>
        <c:lblAlgn val="ctr"/>
        <c:lblOffset val="100"/>
        <c:noMultiLvlLbl val="0"/>
      </c:catAx>
      <c:valAx>
        <c:axId val="2135088079"/>
        <c:scaling>
          <c:orientation val="minMax"/>
        </c:scaling>
        <c:delete val="0"/>
        <c:axPos val="l"/>
        <c:numFmt formatCode="0.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35092399"/>
        <c:crosses val="autoZero"/>
        <c:crossBetween val="between"/>
      </c:valAx>
      <c:dTable>
        <c:showHorzBorder val="1"/>
        <c:showVertBorder val="1"/>
        <c:showOutline val="1"/>
        <c:showKeys val="0"/>
        <c:spPr>
          <a:noFill/>
          <a:ln w="9525">
            <a:solidFill>
              <a:schemeClr val="tx2">
                <a:lumMod val="15000"/>
                <a:lumOff val="85000"/>
              </a:schemeClr>
            </a:solidFill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rgbClr val="FF0000"/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[Template (Zomato)(AutoRecovered).xlsx]Q-7 I Subjective!Impact of Online Delivery and Table Booking on Ratings</c:name>
    <c:fmtId val="2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Impact of Online Delivery and Table Booking on Ratings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dLbl>
          <c:idx val="0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dLbl>
          <c:idx val="0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dLbl>
          <c:idx val="0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dLbl>
          <c:idx val="0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dLbl>
          <c:idx val="0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dLbl>
          <c:idx val="0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dLbl>
          <c:idx val="0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dLbl>
          <c:idx val="0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solidFill>
              <a:schemeClr val="bg2"/>
            </a:solidFill>
            <a:ln>
              <a:solidFill>
                <a:schemeClr val="tx1"/>
              </a:solidFill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solidFill>
              <a:schemeClr val="bg2"/>
            </a:solidFill>
            <a:ln>
              <a:solidFill>
                <a:schemeClr val="tx1"/>
              </a:solidFill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rgbClr val="FF000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solidFill>
              <a:schemeClr val="bg2"/>
            </a:solidFill>
            <a:ln>
              <a:solidFill>
                <a:schemeClr val="tx1"/>
              </a:solidFill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2">
              <a:lumMod val="60000"/>
              <a:lumOff val="4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solidFill>
              <a:schemeClr val="bg2"/>
            </a:solidFill>
            <a:ln>
              <a:solidFill>
                <a:schemeClr val="tx1"/>
              </a:solidFill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solidFill>
              <a:schemeClr val="bg2"/>
            </a:solidFill>
            <a:ln>
              <a:solidFill>
                <a:schemeClr val="tx1"/>
              </a:solidFill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solidFill>
              <a:schemeClr val="bg2"/>
            </a:solidFill>
            <a:ln>
              <a:solidFill>
                <a:schemeClr val="tx1"/>
              </a:solidFill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rgbClr val="FF000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solidFill>
              <a:schemeClr val="bg2"/>
            </a:solidFill>
            <a:ln>
              <a:solidFill>
                <a:schemeClr val="tx1"/>
              </a:solidFill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2">
              <a:lumMod val="60000"/>
              <a:lumOff val="4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solidFill>
              <a:schemeClr val="bg2"/>
            </a:solidFill>
            <a:ln>
              <a:solidFill>
                <a:schemeClr val="tx1"/>
              </a:solidFill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solidFill>
              <a:schemeClr val="bg2"/>
            </a:solidFill>
            <a:ln>
              <a:solidFill>
                <a:schemeClr val="tx1"/>
              </a:solidFill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solidFill>
              <a:schemeClr val="bg2"/>
            </a:solidFill>
            <a:ln>
              <a:solidFill>
                <a:schemeClr val="tx1"/>
              </a:solidFill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rgbClr val="FF000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solidFill>
              <a:schemeClr val="bg2"/>
            </a:solidFill>
            <a:ln>
              <a:solidFill>
                <a:schemeClr val="tx1"/>
              </a:solidFill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chemeClr val="accent2">
              <a:lumMod val="60000"/>
              <a:lumOff val="4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solidFill>
              <a:schemeClr val="bg2"/>
            </a:solidFill>
            <a:ln>
              <a:solidFill>
                <a:schemeClr val="tx1"/>
              </a:solidFill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'Q-7 I Subjective'!$C$7:$C$9</c:f>
              <c:strCache>
                <c:ptCount val="1"/>
                <c:pt idx="0">
                  <c:v>No - Yes</c:v>
                </c:pt>
              </c:strCache>
            </c:strRef>
          </c:tx>
          <c:spPr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solidFill>
                <a:schemeClr val="bg2"/>
              </a:solidFill>
              <a:ln>
                <a:solidFill>
                  <a:schemeClr val="tx1"/>
                </a:solidFill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'Q-7 I Subjective'!$B$10</c:f>
              <c:strCache>
                <c:ptCount val="1"/>
                <c:pt idx="0">
                  <c:v>Total</c:v>
                </c:pt>
              </c:strCache>
            </c:strRef>
          </c:cat>
          <c:val>
            <c:numRef>
              <c:f>'Q-7 I Subjective'!$C$10</c:f>
              <c:numCache>
                <c:formatCode>0.00</c:formatCode>
                <c:ptCount val="1"/>
                <c:pt idx="0">
                  <c:v>3.2205853174603187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103-484F-B6FC-919E892503ED}"/>
            </c:ext>
          </c:extLst>
        </c:ser>
        <c:ser>
          <c:idx val="1"/>
          <c:order val="1"/>
          <c:tx>
            <c:strRef>
              <c:f>'Q-7 I Subjective'!$D$7:$D$9</c:f>
              <c:strCache>
                <c:ptCount val="1"/>
                <c:pt idx="0">
                  <c:v>No - No</c:v>
                </c:pt>
              </c:strCache>
            </c:strRef>
          </c:tx>
          <c:spPr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  <a:effectLst/>
          </c:spPr>
          <c:invertIfNegative val="0"/>
          <c:dLbls>
            <c:spPr>
              <a:solidFill>
                <a:schemeClr val="bg2"/>
              </a:solidFill>
              <a:ln>
                <a:solidFill>
                  <a:schemeClr val="tx1"/>
                </a:solidFill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'Q-7 I Subjective'!$B$10</c:f>
              <c:strCache>
                <c:ptCount val="1"/>
                <c:pt idx="0">
                  <c:v>Total</c:v>
                </c:pt>
              </c:strCache>
            </c:strRef>
          </c:cat>
          <c:val>
            <c:numRef>
              <c:f>'Q-7 I Subjective'!$D$10</c:f>
              <c:numCache>
                <c:formatCode>0.00</c:formatCode>
                <c:ptCount val="1"/>
                <c:pt idx="0">
                  <c:v>2.6797867335737813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103-484F-B6FC-919E892503ED}"/>
            </c:ext>
          </c:extLst>
        </c:ser>
        <c:ser>
          <c:idx val="2"/>
          <c:order val="2"/>
          <c:tx>
            <c:strRef>
              <c:f>'Q-7 I Subjective'!$F$7:$F$9</c:f>
              <c:strCache>
                <c:ptCount val="1"/>
                <c:pt idx="0">
                  <c:v>Yes - Yes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dLbls>
            <c:spPr>
              <a:solidFill>
                <a:schemeClr val="bg2"/>
              </a:solidFill>
              <a:ln>
                <a:solidFill>
                  <a:schemeClr val="tx1"/>
                </a:solidFill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'Q-7 I Subjective'!$B$10</c:f>
              <c:strCache>
                <c:ptCount val="1"/>
                <c:pt idx="0">
                  <c:v>Total</c:v>
                </c:pt>
              </c:strCache>
            </c:strRef>
          </c:cat>
          <c:val>
            <c:numRef>
              <c:f>'Q-7 I Subjective'!$F$10</c:f>
              <c:numCache>
                <c:formatCode>0.00</c:formatCode>
                <c:ptCount val="1"/>
                <c:pt idx="0">
                  <c:v>3.6004597701149414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103-484F-B6FC-919E892503ED}"/>
            </c:ext>
          </c:extLst>
        </c:ser>
        <c:ser>
          <c:idx val="3"/>
          <c:order val="3"/>
          <c:tx>
            <c:strRef>
              <c:f>'Q-7 I Subjective'!$G$7:$G$9</c:f>
              <c:strCache>
                <c:ptCount val="1"/>
                <c:pt idx="0">
                  <c:v>Yes - No</c:v>
                </c:pt>
              </c:strCache>
            </c:strRef>
          </c:tx>
          <c:spPr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Lbls>
            <c:spPr>
              <a:solidFill>
                <a:schemeClr val="bg2"/>
              </a:solidFill>
              <a:ln>
                <a:solidFill>
                  <a:schemeClr val="tx1"/>
                </a:solidFill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'Q-7 I Subjective'!$B$10</c:f>
              <c:strCache>
                <c:ptCount val="1"/>
                <c:pt idx="0">
                  <c:v>Total</c:v>
                </c:pt>
              </c:strCache>
            </c:strRef>
          </c:cat>
          <c:val>
            <c:numRef>
              <c:f>'Q-7 I Subjective'!$G$10</c:f>
              <c:numCache>
                <c:formatCode>0.00</c:formatCode>
                <c:ptCount val="1"/>
                <c:pt idx="0">
                  <c:v>3.411618257261408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103-484F-B6FC-919E892503E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480463855"/>
        <c:axId val="480469615"/>
      </c:barChart>
      <c:catAx>
        <c:axId val="480463855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80469615"/>
        <c:crosses val="autoZero"/>
        <c:auto val="1"/>
        <c:lblAlgn val="ctr"/>
        <c:lblOffset val="100"/>
        <c:noMultiLvlLbl val="0"/>
      </c:catAx>
      <c:valAx>
        <c:axId val="480469615"/>
        <c:scaling>
          <c:orientation val="minMax"/>
        </c:scaling>
        <c:delete val="0"/>
        <c:axPos val="b"/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8046385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rgbClr val="FF0000"/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[Template (Zomato)(AutoRecovered).xlsx]Q-4 I Subjective!Average cost of two of  countries (converted into INR)</c:name>
    <c:fmtId val="47"/>
  </c:pivotSource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lang="en-US" sz="1600" b="1" i="0" u="none" strike="noStrike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pPr>
            <a:r>
              <a:rPr lang="en-US" sz="1600" b="1" i="0" u="none" strike="noStrik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Average cost of two of  countries (converted into INR)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lang="en-US" sz="1600" b="1" i="0" u="none" strike="noStrike" kern="1200" spc="0" baseline="0">
              <a:solidFill>
                <a:srgbClr val="000000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rgbClr val="FF000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solidFill>
              <a:schemeClr val="bg2"/>
            </a:solidFill>
            <a:ln>
              <a:solidFill>
                <a:schemeClr val="tx1"/>
              </a:solidFill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rgbClr val="FF000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solidFill>
              <a:schemeClr val="bg2"/>
            </a:solidFill>
            <a:ln>
              <a:solidFill>
                <a:schemeClr val="tx1"/>
              </a:solidFill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rgbClr val="FF000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solidFill>
              <a:schemeClr val="bg2"/>
            </a:solidFill>
            <a:ln>
              <a:solidFill>
                <a:schemeClr val="tx1"/>
              </a:solidFill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'Q-4 I Subjective'!$G$7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dLbls>
            <c:spPr>
              <a:solidFill>
                <a:schemeClr val="bg2"/>
              </a:solidFill>
              <a:ln>
                <a:solidFill>
                  <a:schemeClr val="tx1"/>
                </a:solidFill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'Q-4 I Subjective'!$F$8:$F$22</c:f>
              <c:strCache>
                <c:ptCount val="15"/>
                <c:pt idx="0">
                  <c:v>India</c:v>
                </c:pt>
                <c:pt idx="1">
                  <c:v>United States of America</c:v>
                </c:pt>
                <c:pt idx="2">
                  <c:v>Singapore</c:v>
                </c:pt>
                <c:pt idx="3">
                  <c:v>United Arab Emirates</c:v>
                </c:pt>
                <c:pt idx="4">
                  <c:v>Philippines</c:v>
                </c:pt>
                <c:pt idx="5">
                  <c:v>New Zealand</c:v>
                </c:pt>
                <c:pt idx="6">
                  <c:v>Brazil</c:v>
                </c:pt>
                <c:pt idx="7">
                  <c:v>South Africa</c:v>
                </c:pt>
                <c:pt idx="8">
                  <c:v>Qatar</c:v>
                </c:pt>
                <c:pt idx="9">
                  <c:v>Australia</c:v>
                </c:pt>
                <c:pt idx="10">
                  <c:v>Indonesia</c:v>
                </c:pt>
                <c:pt idx="11">
                  <c:v>Sri Lanka</c:v>
                </c:pt>
                <c:pt idx="12">
                  <c:v>Canada</c:v>
                </c:pt>
                <c:pt idx="13">
                  <c:v>Turkey</c:v>
                </c:pt>
                <c:pt idx="14">
                  <c:v>United Kingdom</c:v>
                </c:pt>
              </c:strCache>
            </c:strRef>
          </c:cat>
          <c:val>
            <c:numRef>
              <c:f>'Q-4 I Subjective'!$G$8:$G$22</c:f>
              <c:numCache>
                <c:formatCode>0</c:formatCode>
                <c:ptCount val="15"/>
                <c:pt idx="0">
                  <c:v>5393400</c:v>
                </c:pt>
                <c:pt idx="1">
                  <c:v>947725</c:v>
                </c:pt>
                <c:pt idx="2">
                  <c:v>260102.5</c:v>
                </c:pt>
                <c:pt idx="3">
                  <c:v>226659.5</c:v>
                </c:pt>
                <c:pt idx="4">
                  <c:v>215635</c:v>
                </c:pt>
                <c:pt idx="5">
                  <c:v>142290</c:v>
                </c:pt>
                <c:pt idx="6">
                  <c:v>121200</c:v>
                </c:pt>
                <c:pt idx="7">
                  <c:v>115846.39999999999</c:v>
                </c:pt>
                <c:pt idx="8">
                  <c:v>102477.5</c:v>
                </c:pt>
                <c:pt idx="9">
                  <c:v>48263</c:v>
                </c:pt>
                <c:pt idx="10">
                  <c:v>30706</c:v>
                </c:pt>
                <c:pt idx="11">
                  <c:v>13300</c:v>
                </c:pt>
                <c:pt idx="12">
                  <c:v>12107.5</c:v>
                </c:pt>
                <c:pt idx="13">
                  <c:v>7501</c:v>
                </c:pt>
                <c:pt idx="14">
                  <c:v>3825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AA4-4970-A12B-88C8C4DA3B8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315249456"/>
        <c:axId val="1315260016"/>
      </c:barChart>
      <c:catAx>
        <c:axId val="13152494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15260016"/>
        <c:crosses val="autoZero"/>
        <c:auto val="1"/>
        <c:lblAlgn val="ctr"/>
        <c:lblOffset val="100"/>
        <c:noMultiLvlLbl val="0"/>
      </c:catAx>
      <c:valAx>
        <c:axId val="1315260016"/>
        <c:scaling>
          <c:orientation val="minMax"/>
        </c:scaling>
        <c:delete val="0"/>
        <c:axPos val="l"/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152494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rgbClr val="FF0000"/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[Template (Zomato)(AutoRecovered).xlsx]Q-9 I Subjective!Price Range by Country</c:name>
    <c:fmtId val="2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Price Range by Country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ivotFmts>
      <c:pivotFmt>
        <c:idx val="0"/>
        <c:dLbl>
          <c:idx val="0"/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dLbl>
          <c:idx val="0"/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dLbl>
          <c:idx val="0"/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dLbl>
          <c:idx val="0"/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dLbl>
          <c:idx val="0"/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dLbl>
          <c:idx val="0"/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dLbl>
          <c:idx val="0"/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rgbClr val="ED551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solidFill>
              <a:schemeClr val="bg2"/>
            </a:solidFill>
            <a:ln>
              <a:solidFill>
                <a:schemeClr val="tx1"/>
              </a:solidFill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rgbClr val="FF000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solidFill>
              <a:schemeClr val="bg2"/>
            </a:solidFill>
            <a:ln>
              <a:solidFill>
                <a:schemeClr val="tx1"/>
              </a:solidFill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solidFill>
              <a:schemeClr val="bg2"/>
            </a:solidFill>
            <a:ln>
              <a:solidFill>
                <a:schemeClr val="tx1"/>
              </a:solidFill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2">
              <a:lumMod val="7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solidFill>
              <a:schemeClr val="bg2"/>
            </a:solidFill>
            <a:ln>
              <a:solidFill>
                <a:schemeClr val="tx1"/>
              </a:solidFill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rgbClr val="ED551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solidFill>
              <a:schemeClr val="bg2"/>
            </a:solidFill>
            <a:ln>
              <a:solidFill>
                <a:schemeClr val="tx1"/>
              </a:solidFill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rgbClr val="FF000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solidFill>
              <a:schemeClr val="bg2"/>
            </a:solidFill>
            <a:ln>
              <a:solidFill>
                <a:schemeClr val="tx1"/>
              </a:solidFill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solidFill>
              <a:schemeClr val="bg2"/>
            </a:solidFill>
            <a:ln>
              <a:solidFill>
                <a:schemeClr val="tx1"/>
              </a:solidFill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2">
              <a:lumMod val="7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solidFill>
              <a:schemeClr val="bg2"/>
            </a:solidFill>
            <a:ln>
              <a:solidFill>
                <a:schemeClr val="tx1"/>
              </a:solidFill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rgbClr val="ED551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solidFill>
              <a:schemeClr val="bg2"/>
            </a:solidFill>
            <a:ln>
              <a:solidFill>
                <a:schemeClr val="tx1"/>
              </a:solidFill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rgbClr val="FF000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solidFill>
              <a:schemeClr val="bg2"/>
            </a:solidFill>
            <a:ln>
              <a:solidFill>
                <a:schemeClr val="tx1"/>
              </a:solidFill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solidFill>
              <a:schemeClr val="bg2"/>
            </a:solidFill>
            <a:ln>
              <a:solidFill>
                <a:schemeClr val="tx1"/>
              </a:solidFill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2">
              <a:lumMod val="7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solidFill>
              <a:schemeClr val="bg2"/>
            </a:solidFill>
            <a:ln>
              <a:solidFill>
                <a:schemeClr val="tx1"/>
              </a:solidFill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'Q-9 I Subjective'!$C$7:$C$8</c:f>
              <c:strCache>
                <c:ptCount val="1"/>
                <c:pt idx="0">
                  <c:v>Cheap (1)</c:v>
                </c:pt>
              </c:strCache>
            </c:strRef>
          </c:tx>
          <c:spPr>
            <a:solidFill>
              <a:srgbClr val="ED5511"/>
            </a:solidFill>
            <a:ln>
              <a:noFill/>
            </a:ln>
            <a:effectLst/>
          </c:spPr>
          <c:invertIfNegative val="0"/>
          <c:dLbls>
            <c:spPr>
              <a:solidFill>
                <a:schemeClr val="bg2"/>
              </a:solidFill>
              <a:ln>
                <a:solidFill>
                  <a:schemeClr val="tx1"/>
                </a:solidFill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'Q-9 I Subjective'!$B$9:$B$23</c:f>
              <c:strCache>
                <c:ptCount val="15"/>
                <c:pt idx="0">
                  <c:v>Australia</c:v>
                </c:pt>
                <c:pt idx="1">
                  <c:v>Brazil</c:v>
                </c:pt>
                <c:pt idx="2">
                  <c:v>Canada</c:v>
                </c:pt>
                <c:pt idx="3">
                  <c:v>India</c:v>
                </c:pt>
                <c:pt idx="4">
                  <c:v>Indonesia</c:v>
                </c:pt>
                <c:pt idx="5">
                  <c:v>New Zealand</c:v>
                </c:pt>
                <c:pt idx="6">
                  <c:v>Philippines</c:v>
                </c:pt>
                <c:pt idx="7">
                  <c:v>Qatar</c:v>
                </c:pt>
                <c:pt idx="8">
                  <c:v>Singapore</c:v>
                </c:pt>
                <c:pt idx="9">
                  <c:v>South Africa</c:v>
                </c:pt>
                <c:pt idx="10">
                  <c:v>Sri Lanka</c:v>
                </c:pt>
                <c:pt idx="11">
                  <c:v>Turkey</c:v>
                </c:pt>
                <c:pt idx="12">
                  <c:v>United Arab Emirates</c:v>
                </c:pt>
                <c:pt idx="13">
                  <c:v>United Kingdom</c:v>
                </c:pt>
                <c:pt idx="14">
                  <c:v>United States of America</c:v>
                </c:pt>
              </c:strCache>
            </c:strRef>
          </c:cat>
          <c:val>
            <c:numRef>
              <c:f>'Q-9 I Subjective'!$C$9:$C$23</c:f>
              <c:numCache>
                <c:formatCode>General</c:formatCode>
                <c:ptCount val="15"/>
                <c:pt idx="0">
                  <c:v>4</c:v>
                </c:pt>
                <c:pt idx="1">
                  <c:v>2</c:v>
                </c:pt>
                <c:pt idx="3">
                  <c:v>4295</c:v>
                </c:pt>
                <c:pt idx="5">
                  <c:v>3</c:v>
                </c:pt>
                <c:pt idx="13">
                  <c:v>4</c:v>
                </c:pt>
                <c:pt idx="14">
                  <c:v>136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EE1-4560-9773-2E2416538A9D}"/>
            </c:ext>
          </c:extLst>
        </c:ser>
        <c:ser>
          <c:idx val="1"/>
          <c:order val="1"/>
          <c:tx>
            <c:strRef>
              <c:f>'Q-9 I Subjective'!$D$7:$D$8</c:f>
              <c:strCache>
                <c:ptCount val="1"/>
                <c:pt idx="0">
                  <c:v>Moderate (2)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dLbls>
            <c:spPr>
              <a:solidFill>
                <a:schemeClr val="bg2"/>
              </a:solidFill>
              <a:ln>
                <a:solidFill>
                  <a:schemeClr val="tx1"/>
                </a:solidFill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'Q-9 I Subjective'!$B$9:$B$23</c:f>
              <c:strCache>
                <c:ptCount val="15"/>
                <c:pt idx="0">
                  <c:v>Australia</c:v>
                </c:pt>
                <c:pt idx="1">
                  <c:v>Brazil</c:v>
                </c:pt>
                <c:pt idx="2">
                  <c:v>Canada</c:v>
                </c:pt>
                <c:pt idx="3">
                  <c:v>India</c:v>
                </c:pt>
                <c:pt idx="4">
                  <c:v>Indonesia</c:v>
                </c:pt>
                <c:pt idx="5">
                  <c:v>New Zealand</c:v>
                </c:pt>
                <c:pt idx="6">
                  <c:v>Philippines</c:v>
                </c:pt>
                <c:pt idx="7">
                  <c:v>Qatar</c:v>
                </c:pt>
                <c:pt idx="8">
                  <c:v>Singapore</c:v>
                </c:pt>
                <c:pt idx="9">
                  <c:v>South Africa</c:v>
                </c:pt>
                <c:pt idx="10">
                  <c:v>Sri Lanka</c:v>
                </c:pt>
                <c:pt idx="11">
                  <c:v>Turkey</c:v>
                </c:pt>
                <c:pt idx="12">
                  <c:v>United Arab Emirates</c:v>
                </c:pt>
                <c:pt idx="13">
                  <c:v>United Kingdom</c:v>
                </c:pt>
                <c:pt idx="14">
                  <c:v>United States of America</c:v>
                </c:pt>
              </c:strCache>
            </c:strRef>
          </c:cat>
          <c:val>
            <c:numRef>
              <c:f>'Q-9 I Subjective'!$D$9:$D$23</c:f>
              <c:numCache>
                <c:formatCode>General</c:formatCode>
                <c:ptCount val="15"/>
                <c:pt idx="0">
                  <c:v>14</c:v>
                </c:pt>
                <c:pt idx="1">
                  <c:v>7</c:v>
                </c:pt>
                <c:pt idx="2">
                  <c:v>3</c:v>
                </c:pt>
                <c:pt idx="3">
                  <c:v>2858</c:v>
                </c:pt>
                <c:pt idx="4">
                  <c:v>1</c:v>
                </c:pt>
                <c:pt idx="5">
                  <c:v>4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4</c:v>
                </c:pt>
                <c:pt idx="10">
                  <c:v>6</c:v>
                </c:pt>
                <c:pt idx="11">
                  <c:v>11</c:v>
                </c:pt>
                <c:pt idx="12">
                  <c:v>9</c:v>
                </c:pt>
                <c:pt idx="13">
                  <c:v>28</c:v>
                </c:pt>
                <c:pt idx="14">
                  <c:v>165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EE1-4560-9773-2E2416538A9D}"/>
            </c:ext>
          </c:extLst>
        </c:ser>
        <c:ser>
          <c:idx val="2"/>
          <c:order val="2"/>
          <c:tx>
            <c:strRef>
              <c:f>'Q-9 I Subjective'!$E$7:$E$8</c:f>
              <c:strCache>
                <c:ptCount val="1"/>
                <c:pt idx="0">
                  <c:v>Expensive(3)</c:v>
                </c:pt>
              </c:strCache>
            </c:strRef>
          </c:tx>
          <c:spPr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solidFill>
                <a:schemeClr val="bg2"/>
              </a:solidFill>
              <a:ln>
                <a:solidFill>
                  <a:schemeClr val="tx1"/>
                </a:solidFill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'Q-9 I Subjective'!$B$9:$B$23</c:f>
              <c:strCache>
                <c:ptCount val="15"/>
                <c:pt idx="0">
                  <c:v>Australia</c:v>
                </c:pt>
                <c:pt idx="1">
                  <c:v>Brazil</c:v>
                </c:pt>
                <c:pt idx="2">
                  <c:v>Canada</c:v>
                </c:pt>
                <c:pt idx="3">
                  <c:v>India</c:v>
                </c:pt>
                <c:pt idx="4">
                  <c:v>Indonesia</c:v>
                </c:pt>
                <c:pt idx="5">
                  <c:v>New Zealand</c:v>
                </c:pt>
                <c:pt idx="6">
                  <c:v>Philippines</c:v>
                </c:pt>
                <c:pt idx="7">
                  <c:v>Qatar</c:v>
                </c:pt>
                <c:pt idx="8">
                  <c:v>Singapore</c:v>
                </c:pt>
                <c:pt idx="9">
                  <c:v>South Africa</c:v>
                </c:pt>
                <c:pt idx="10">
                  <c:v>Sri Lanka</c:v>
                </c:pt>
                <c:pt idx="11">
                  <c:v>Turkey</c:v>
                </c:pt>
                <c:pt idx="12">
                  <c:v>United Arab Emirates</c:v>
                </c:pt>
                <c:pt idx="13">
                  <c:v>United Kingdom</c:v>
                </c:pt>
                <c:pt idx="14">
                  <c:v>United States of America</c:v>
                </c:pt>
              </c:strCache>
            </c:strRef>
          </c:cat>
          <c:val>
            <c:numRef>
              <c:f>'Q-9 I Subjective'!$E$9:$E$23</c:f>
              <c:numCache>
                <c:formatCode>General</c:formatCode>
                <c:ptCount val="15"/>
                <c:pt idx="0">
                  <c:v>5</c:v>
                </c:pt>
                <c:pt idx="1">
                  <c:v>16</c:v>
                </c:pt>
                <c:pt idx="3">
                  <c:v>1111</c:v>
                </c:pt>
                <c:pt idx="4">
                  <c:v>20</c:v>
                </c:pt>
                <c:pt idx="5">
                  <c:v>17</c:v>
                </c:pt>
                <c:pt idx="6">
                  <c:v>12</c:v>
                </c:pt>
                <c:pt idx="7">
                  <c:v>5</c:v>
                </c:pt>
                <c:pt idx="8">
                  <c:v>5</c:v>
                </c:pt>
                <c:pt idx="9">
                  <c:v>17</c:v>
                </c:pt>
                <c:pt idx="10">
                  <c:v>11</c:v>
                </c:pt>
                <c:pt idx="11">
                  <c:v>18</c:v>
                </c:pt>
                <c:pt idx="12">
                  <c:v>29</c:v>
                </c:pt>
                <c:pt idx="13">
                  <c:v>32</c:v>
                </c:pt>
                <c:pt idx="14">
                  <c:v>110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EE1-4560-9773-2E2416538A9D}"/>
            </c:ext>
          </c:extLst>
        </c:ser>
        <c:ser>
          <c:idx val="3"/>
          <c:order val="3"/>
          <c:tx>
            <c:strRef>
              <c:f>'Q-9 I Subjective'!$F$7:$F$8</c:f>
              <c:strCache>
                <c:ptCount val="1"/>
                <c:pt idx="0">
                  <c:v>Very expensive (4)</c:v>
                </c:pt>
              </c:strCache>
            </c:strRef>
          </c:tx>
          <c:spPr>
            <a:solidFill>
              <a:schemeClr val="accent2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spPr>
              <a:solidFill>
                <a:schemeClr val="bg2"/>
              </a:solidFill>
              <a:ln>
                <a:solidFill>
                  <a:schemeClr val="tx1"/>
                </a:solidFill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'Q-9 I Subjective'!$B$9:$B$23</c:f>
              <c:strCache>
                <c:ptCount val="15"/>
                <c:pt idx="0">
                  <c:v>Australia</c:v>
                </c:pt>
                <c:pt idx="1">
                  <c:v>Brazil</c:v>
                </c:pt>
                <c:pt idx="2">
                  <c:v>Canada</c:v>
                </c:pt>
                <c:pt idx="3">
                  <c:v>India</c:v>
                </c:pt>
                <c:pt idx="4">
                  <c:v>Indonesia</c:v>
                </c:pt>
                <c:pt idx="5">
                  <c:v>New Zealand</c:v>
                </c:pt>
                <c:pt idx="6">
                  <c:v>Philippines</c:v>
                </c:pt>
                <c:pt idx="7">
                  <c:v>Qatar</c:v>
                </c:pt>
                <c:pt idx="8">
                  <c:v>Singapore</c:v>
                </c:pt>
                <c:pt idx="9">
                  <c:v>South Africa</c:v>
                </c:pt>
                <c:pt idx="10">
                  <c:v>Sri Lanka</c:v>
                </c:pt>
                <c:pt idx="11">
                  <c:v>Turkey</c:v>
                </c:pt>
                <c:pt idx="12">
                  <c:v>United Arab Emirates</c:v>
                </c:pt>
                <c:pt idx="13">
                  <c:v>United Kingdom</c:v>
                </c:pt>
                <c:pt idx="14">
                  <c:v>United States of America</c:v>
                </c:pt>
              </c:strCache>
            </c:strRef>
          </c:cat>
          <c:val>
            <c:numRef>
              <c:f>'Q-9 I Subjective'!$F$9:$F$23</c:f>
              <c:numCache>
                <c:formatCode>General</c:formatCode>
                <c:ptCount val="15"/>
                <c:pt idx="0">
                  <c:v>1</c:v>
                </c:pt>
                <c:pt idx="1">
                  <c:v>35</c:v>
                </c:pt>
                <c:pt idx="2">
                  <c:v>1</c:v>
                </c:pt>
                <c:pt idx="3">
                  <c:v>388</c:v>
                </c:pt>
                <c:pt idx="5">
                  <c:v>16</c:v>
                </c:pt>
                <c:pt idx="6">
                  <c:v>9</c:v>
                </c:pt>
                <c:pt idx="7">
                  <c:v>14</c:v>
                </c:pt>
                <c:pt idx="8">
                  <c:v>14</c:v>
                </c:pt>
                <c:pt idx="9">
                  <c:v>39</c:v>
                </c:pt>
                <c:pt idx="10">
                  <c:v>3</c:v>
                </c:pt>
                <c:pt idx="11">
                  <c:v>5</c:v>
                </c:pt>
                <c:pt idx="12">
                  <c:v>22</c:v>
                </c:pt>
                <c:pt idx="13">
                  <c:v>16</c:v>
                </c:pt>
                <c:pt idx="14">
                  <c:v>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DEE1-4560-9773-2E2416538A9D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342268943"/>
        <c:axId val="342269423"/>
      </c:barChart>
      <c:catAx>
        <c:axId val="34226894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42269423"/>
        <c:crosses val="autoZero"/>
        <c:auto val="1"/>
        <c:lblAlgn val="ctr"/>
        <c:lblOffset val="100"/>
        <c:noMultiLvlLbl val="0"/>
      </c:catAx>
      <c:valAx>
        <c:axId val="342269423"/>
        <c:scaling>
          <c:orientation val="minMax"/>
        </c:scaling>
        <c:delete val="0"/>
        <c:axPos val="b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4226894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rgbClr val="FF0000"/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7">
  <cs:axisTitle>
    <cs:lnRef idx="0"/>
    <cs:fillRef idx="0"/>
    <cs:effectRef idx="0"/>
    <cs:fontRef idx="minor">
      <a:schemeClr val="tx2"/>
    </cs:fontRef>
    <cs:defRPr sz="900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2"/>
    </cs:fontRef>
    <cs:defRPr sz="900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  <a:lumOff val="2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900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1600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900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900" kern="1200"/>
  </cs:valueAxis>
  <cs:wall>
    <cs:lnRef idx="0"/>
    <cs:fillRef idx="0"/>
    <cs:effectRef idx="0"/>
    <cs:fontRef idx="minor">
      <a:schemeClr val="tx2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07">
  <cs:axisTitle>
    <cs:lnRef idx="0"/>
    <cs:fillRef idx="0"/>
    <cs:effectRef idx="0"/>
    <cs:fontRef idx="minor">
      <a:schemeClr val="tx2"/>
    </cs:fontRef>
    <cs:defRPr sz="900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2"/>
    </cs:fontRef>
    <cs:defRPr sz="900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  <a:lumOff val="2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900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1600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900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900" kern="1200"/>
  </cs:valueAxis>
  <cs:wall>
    <cs:lnRef idx="0"/>
    <cs:fillRef idx="0"/>
    <cs:effectRef idx="0"/>
    <cs:fontRef idx="minor">
      <a:schemeClr val="tx2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1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587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 cap="none" spc="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bg1"/>
    </cs:fontRef>
    <cs:spPr>
      <a:solidFill>
        <a:schemeClr val="tx1">
          <a:lumMod val="50000"/>
          <a:lumOff val="50000"/>
        </a:schemeClr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>
            <a:alpha val="70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 baseline="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tx1">
        <a:lumMod val="65000"/>
        <a:lumOff val="35000"/>
      </a:schemeClr>
    </cs:fontRef>
    <cs:defRPr sz="1600" b="0" i="0" kern="1200" cap="none" spc="5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587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 spc="20" baseline="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07">
  <cs:axisTitle>
    <cs:lnRef idx="0"/>
    <cs:fillRef idx="0"/>
    <cs:effectRef idx="0"/>
    <cs:fontRef idx="minor">
      <a:schemeClr val="tx2"/>
    </cs:fontRef>
    <cs:defRPr sz="900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2"/>
    </cs:fontRef>
    <cs:defRPr sz="900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  <a:lumOff val="2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900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1600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900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900" kern="1200"/>
  </cs:valueAxis>
  <cs:wall>
    <cs:lnRef idx="0"/>
    <cs:fillRef idx="0"/>
    <cs:effectRef idx="0"/>
    <cs:fontRef idx="minor">
      <a:schemeClr val="tx2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07">
  <cs:axisTitle>
    <cs:lnRef idx="0"/>
    <cs:fillRef idx="0"/>
    <cs:effectRef idx="0"/>
    <cs:fontRef idx="minor">
      <a:schemeClr val="tx2"/>
    </cs:fontRef>
    <cs:defRPr sz="900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2"/>
    </cs:fontRef>
    <cs:defRPr sz="900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  <a:lumOff val="2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900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1600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900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900" kern="1200"/>
  </cs:valueAxis>
  <cs:wall>
    <cs:lnRef idx="0"/>
    <cs:fillRef idx="0"/>
    <cs:effectRef idx="0"/>
    <cs:fontRef idx="minor">
      <a:schemeClr val="tx2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207">
  <cs:axisTitle>
    <cs:lnRef idx="0"/>
    <cs:fillRef idx="0"/>
    <cs:effectRef idx="0"/>
    <cs:fontRef idx="minor">
      <a:schemeClr val="tx2"/>
    </cs:fontRef>
    <cs:defRPr sz="900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2"/>
    </cs:fontRef>
    <cs:defRPr sz="900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  <a:lumOff val="2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900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1600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900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900" kern="1200"/>
  </cs:valueAxis>
  <cs:wall>
    <cs:lnRef idx="0"/>
    <cs:fillRef idx="0"/>
    <cs:effectRef idx="0"/>
    <cs:fontRef idx="minor">
      <a:schemeClr val="tx2"/>
    </cs:fontRef>
  </cs:wall>
</cs:chartStyle>
</file>

<file path=ppt/charts/style7.xml><?xml version="1.0" encoding="utf-8"?>
<cs:chartStyle xmlns:cs="http://schemas.microsoft.com/office/drawing/2012/chartStyle" xmlns:a="http://schemas.openxmlformats.org/drawingml/2006/main" id="220">
  <cs:axisTitle>
    <cs:lnRef idx="0"/>
    <cs:fillRef idx="0"/>
    <cs:effectRef idx="0"/>
    <cs:fontRef idx="minor">
      <a:schemeClr val="tx2"/>
    </cs:fontRef>
    <cs:defRPr sz="900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2"/>
    </cs:fontRef>
    <cs:defRPr sz="900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900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1600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900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900" kern="1200"/>
  </cs:valueAxis>
  <cs:wall>
    <cs:lnRef idx="0"/>
    <cs:fillRef idx="0"/>
    <cs:effectRef idx="0"/>
    <cs:fontRef idx="minor">
      <a:schemeClr val="tx2"/>
    </cs:fontRef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302">
  <cs:axisTitle>
    <cs:lnRef idx="0"/>
    <cs:fillRef idx="0"/>
    <cs:effectRef idx="0"/>
    <cs:fontRef idx="minor">
      <a:schemeClr val="tx2"/>
    </cs:fontRef>
    <cs:defRPr sz="900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2"/>
    </cs:fontRef>
    <cs:defRPr sz="900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900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1600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900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900" kern="1200"/>
  </cs:valueAxis>
  <cs:wall>
    <cs:lnRef idx="0"/>
    <cs:fillRef idx="0"/>
    <cs:effectRef idx="0"/>
    <cs:fontRef idx="minor">
      <a:schemeClr val="tx2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92266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BB4A4-FF31-4D3A-6AC1-8752B5DE8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D9401B-FDED-B3EF-429E-E7289C4516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B3F037-F817-BA92-7632-F60661270E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3FF7F1-0B11-7012-46F6-614BE07245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5113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3084CD-B230-E0DD-6175-957E8ED08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CEB1FD-CA92-0328-70EC-A08DCD5C6A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F38112-8862-72CA-1D48-1CCA74254B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1DD211-E1E6-AE17-36B6-5B50982356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4459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E8707A-07D6-88D2-E1E1-21C0AF970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B047EE-5CCD-2F31-5CBE-849DA24DD9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2BD156-0D55-3B0C-23BB-473B88A60D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F1958F-04E5-AC58-618C-C9DB573838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8428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7BCE86-C7C2-9578-4C3A-5EE6CF650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164FFF-6674-D929-0A32-BFF99CA6D0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2CB3B7-4B46-3E5D-F654-064496BE89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B4C3F4-C012-E507-D365-ECCB77FE88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688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992AA2-865F-8220-9B25-AC9C66677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B30537-08FE-4335-ECEC-A1DC8B597E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C012FB-20FD-2B23-EEE1-197AEAE407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20EF35-9E41-02CB-3BED-DB3E5B000E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2119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EAA2B-A190-0D76-679F-F83F78337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92292A-1B36-0116-9543-66EA11EC2B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43E9EB-9033-B961-4FAA-E684278EA3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7C3814-56F3-4657-40CB-847130F602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9325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06C7EE-D832-5D9C-C809-5280A2997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FCE364-B854-D4EB-DC9C-3AC5E6F7BB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F08D22-0ABA-F43F-4328-BAF0E49683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330CF6-A256-CC99-0C28-3D6286A68F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9990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861CA4-B57C-2E03-A1E1-1B767C52E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61B840-F4FE-9406-6FF8-81A47E130E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EF259F-8F25-4A9C-129D-886D867B9E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42F028-D0F8-F3C6-20AE-1699DD49DF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78655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858000" y="-457200"/>
            <a:ext cx="2743200" cy="2743200"/>
          </a:xfrm>
          <a:prstGeom prst="ellipse">
            <a:avLst/>
          </a:prstGeom>
          <a:solidFill>
            <a:srgbClr val="7B241C">
              <a:alpha val="30000"/>
            </a:srgbClr>
          </a:solidFill>
          <a:ln w="12700">
            <a:solidFill>
              <a:srgbClr val="7B241C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772400" y="2743200"/>
            <a:ext cx="1828800" cy="1828800"/>
          </a:xfrm>
          <a:prstGeom prst="ellipse">
            <a:avLst/>
          </a:prstGeom>
          <a:solidFill>
            <a:srgbClr val="E74C3C">
              <a:alpha val="20000"/>
            </a:srgbClr>
          </a:solidFill>
          <a:ln w="12700">
            <a:solidFill>
              <a:srgbClr val="E74C3C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74320" y="274320"/>
            <a:ext cx="1645920" cy="32004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74320" y="2743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🍴 ZOMATO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005840"/>
            <a:ext cx="77495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Zomato Restaurant Expansion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Report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365760" y="2651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0C0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Market Insights  |  Global Expansion Study  |  Data-Driven Recommendations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3108960"/>
            <a:ext cx="4572000" cy="36576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65760" y="32918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9,551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65760" y="3749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B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560320" y="32918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560320" y="3749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B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32918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2.89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754880" y="3749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B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Rating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949440" y="32918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156.9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949440" y="3749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B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Votes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4617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Sonal Bhosale  |  Data Science Feb 2026 Batch 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OBJECTIVES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59180"/>
            <a:ext cx="8686800" cy="685800"/>
          </a:xfrm>
          <a:prstGeom prst="rect">
            <a:avLst/>
          </a:prstGeom>
          <a:solidFill>
            <a:srgbClr val="2C0A0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Did You Know? Zomato</a:t>
            </a:r>
            <a:r>
              <a:rPr lang="en-US" sz="1400" dirty="0"/>
              <a:t> </a:t>
            </a: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began in 2008 as “Foodiebay,” a simple website for browsing restaurant menus.</a:t>
            </a:r>
            <a:b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later transformed into a global food delivery platform handling millions of orders daily.</a:t>
            </a:r>
          </a:p>
        </p:txBody>
      </p:sp>
      <p:sp>
        <p:nvSpPr>
          <p:cNvPr id="6" name="Shape 4"/>
          <p:cNvSpPr/>
          <p:nvPr/>
        </p:nvSpPr>
        <p:spPr>
          <a:xfrm>
            <a:off x="274320" y="1926336"/>
            <a:ext cx="3931920" cy="26517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74320" y="1920240"/>
            <a:ext cx="3931920" cy="347472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20040" y="192024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CONTEXT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377440"/>
            <a:ext cx="35661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performs a comprehensive Excel-based analysis of Zomato's global restaurant dataset spanning 2010–2018. 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contains 20+ attributes including ratings, votes, cuisine types, pricing, and delivery features across 15 countries.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tables, VLOOKUP, conditional formatting, and array formulas were utilized to derive insights.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920240"/>
            <a:ext cx="4297680" cy="26517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63440" y="1920240"/>
            <a:ext cx="4297680" cy="347472"/>
          </a:xfrm>
          <a:prstGeom prst="rect">
            <a:avLst/>
          </a:prstGeom>
          <a:solidFill>
            <a:srgbClr val="D4AC0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663440" y="1920240"/>
            <a:ext cx="4297680" cy="347472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r>
              <a:rPr lang="en-US"/>
              <a:t>KEY OBJECTIVES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800600" y="2450592"/>
            <a:ext cx="201168" cy="201168"/>
          </a:xfrm>
          <a:prstGeom prst="ellipse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120640" y="2423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potential markets for expansion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800600" y="2880360"/>
            <a:ext cx="201168" cy="201168"/>
          </a:xfrm>
          <a:prstGeom prst="ellipse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120640" y="28529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restaurant quality &amp; competition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800600" y="3310128"/>
            <a:ext cx="201168" cy="201168"/>
          </a:xfrm>
          <a:prstGeom prst="ellipse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120640" y="328269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customer spending patterns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800600" y="3739896"/>
            <a:ext cx="201168" cy="201168"/>
          </a:xfrm>
          <a:prstGeom prst="ellipse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120640" y="371246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cuisine preferences &amp; ratings correlation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800600" y="4169664"/>
            <a:ext cx="201168" cy="201168"/>
          </a:xfrm>
          <a:prstGeom prst="ellipse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120640" y="41422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cities, pricing &amp; service models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OVERVIEW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1005840"/>
            <a:ext cx="2011680" cy="1371600"/>
          </a:xfrm>
          <a:prstGeom prst="rect">
            <a:avLst/>
          </a:prstGeom>
          <a:solidFill>
            <a:srgbClr val="1A0A0A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28600" y="10058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28600" y="14173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28600" y="181051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28600" y="202996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+ Country Description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23160" y="1005840"/>
            <a:ext cx="2011680" cy="1371600"/>
          </a:xfrm>
          <a:prstGeom prst="rect">
            <a:avLst/>
          </a:prstGeom>
          <a:solidFill>
            <a:srgbClr val="C0392B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423160" y="10058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23160" y="14173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423160" y="181051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423160" y="202996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Categorical, 6 Continuous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17720" y="1005840"/>
            <a:ext cx="2011680" cy="1371600"/>
          </a:xfrm>
          <a:prstGeom prst="rect">
            <a:avLst/>
          </a:prstGeom>
          <a:solidFill>
            <a:srgbClr val="1A0A0A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617720" y="10058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🗃️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617720" y="14173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9,551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617720" y="181051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17720" y="202996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15 Countries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812280" y="1005840"/>
            <a:ext cx="2011680" cy="1371600"/>
          </a:xfrm>
          <a:prstGeom prst="rect">
            <a:avLst/>
          </a:prstGeom>
          <a:solidFill>
            <a:srgbClr val="C0392B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812280" y="10058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📅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812280" y="14173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2010–18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812280" y="181051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Range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12280" y="202996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years of data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74320" y="256032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STEPS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274320" y="2816352"/>
            <a:ext cx="1097280" cy="36576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274320" y="2926080"/>
            <a:ext cx="4206240" cy="86868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274320" y="2926080"/>
            <a:ext cx="54864" cy="86868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11480" y="29718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11480" y="3227832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blanks using 'Go to Special'; filled Cuisines column with 'Unknown' for null entries.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74320" y="3931920"/>
            <a:ext cx="4206240" cy="86868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274320" y="3931920"/>
            <a:ext cx="54864" cy="86868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11480" y="39776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Formatting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11480" y="4233672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date format using DATEVALUE(SUBSTITUTE(T2,"_","-")) to extract proper year values.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846320" y="2926080"/>
            <a:ext cx="4206240" cy="86868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4846320" y="2926080"/>
            <a:ext cx="54864" cy="86868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983480" y="29718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VLOOKUP for Country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983480" y="3227832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Country Code to Country Name using =VLOOKUP('Raw Data'!C2,'country description'!A:B,2,FALSE).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846320" y="3931920"/>
            <a:ext cx="4206240" cy="86868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4846320" y="3931920"/>
            <a:ext cx="54864" cy="86868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4983480" y="39776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 Symbol Column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983480" y="4233672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custom price column by concatenating currency abbreviation + Average Cost for Two.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0A0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10058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TECHNIQUES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54864" cy="475488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57200" y="144475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Tables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66420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Country, city, price, rating aggregation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1965960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74320" y="1965960"/>
            <a:ext cx="54864" cy="475488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57200" y="199339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VLOOKUP / XLOOKUP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21284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Merging country descriptions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2514600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274320" y="2514600"/>
            <a:ext cx="54864" cy="475488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57200" y="254203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SUMPRODUCT / Array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276148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Multi-condition counting &amp; filtering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3063240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274320" y="3063240"/>
            <a:ext cx="54864" cy="475488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57200" y="309067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Formatting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331012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Highlighting recommended countries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3611880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274320" y="3611880"/>
            <a:ext cx="54864" cy="475488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57200" y="363931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+ Logical Ops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385876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classification: Poor/Average/Good/Excellent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4160520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274320" y="4175760"/>
            <a:ext cx="54864" cy="475488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57200" y="418795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Operations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440740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CONCATENATE  + FIND for currency col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663440" y="10058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APPROACH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4663440" y="1463040"/>
            <a:ext cx="411480" cy="41148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66344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212080" y="144475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212080" y="166420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nulls, fix dates, enrich with country names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663440" y="2176272"/>
            <a:ext cx="411480" cy="41148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4663440" y="21762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212080" y="2157984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Analysis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212080" y="23774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factual questions using pivot &amp; formulas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663440" y="2889504"/>
            <a:ext cx="411480" cy="41148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4663440" y="28895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212080" y="2871216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Mapping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212080" y="309067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count, avg rating, avg votes per market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663440" y="3602736"/>
            <a:ext cx="411480" cy="41148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4663440" y="36027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5212080" y="358444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212080" y="3803904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range distribution, rating quality brackets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663440" y="4315968"/>
            <a:ext cx="411480" cy="41148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4663440" y="43159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5212080" y="42976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212080" y="4517136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city &amp; strategy suggestions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DISTRIBUTION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321040" y="142646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b="1" dirty="0">
              <a:solidFill>
                <a:srgbClr val="D4AC0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100" dirty="0"/>
          </a:p>
        </p:txBody>
      </p:sp>
      <p:graphicFrame>
        <p:nvGraphicFramePr>
          <p:cNvPr id="36" name="Chart 35">
            <a:extLst>
              <a:ext uri="{FF2B5EF4-FFF2-40B4-BE49-F238E27FC236}">
                <a16:creationId xmlns:a16="http://schemas.microsoft.com/office/drawing/2014/main" id="{E1D2F62F-5EB6-41BF-828B-137F886B0EC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55773419"/>
              </p:ext>
            </p:extLst>
          </p:nvPr>
        </p:nvGraphicFramePr>
        <p:xfrm>
          <a:off x="1010040" y="984305"/>
          <a:ext cx="7123917" cy="33485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Analysis_5">
            <a:extLst>
              <a:ext uri="{FF2B5EF4-FFF2-40B4-BE49-F238E27FC236}">
                <a16:creationId xmlns:a16="http://schemas.microsoft.com/office/drawing/2014/main" id="{EDCAF417-C5E5-E6F0-89B1-CEC82B1B6CF1}"/>
              </a:ext>
            </a:extLst>
          </p:cNvPr>
          <p:cNvSpPr txBox="1"/>
          <p:nvPr/>
        </p:nvSpPr>
        <p:spPr>
          <a:xfrm>
            <a:off x="274319" y="4441482"/>
            <a:ext cx="8595360" cy="609600"/>
          </a:xfrm>
          <a:prstGeom prst="rect">
            <a:avLst/>
          </a:prstGeom>
          <a:solidFill>
            <a:srgbClr val="F2F2F2"/>
          </a:solidFill>
          <a:ln w="12700">
            <a:solidFill>
              <a:srgbClr val="C0392B"/>
            </a:solidFill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000" b="0" dirty="0">
                <a:solidFill>
                  <a:srgbClr val="1A1A1A"/>
                </a:solidFill>
                <a:latin typeface="Calibri" pitchFamily="34" charset="0"/>
              </a:rPr>
              <a:t>📌 Analysis: India dominates with 8,652 restaurants (~91% of total), followed by the USA and UAE. This heavy concentration suggests Zomato's expansion opportunity lies significantly outside India, where market penetration remains low despite strong global dining demand.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433F3F-A09E-4DA0-0085-5F1B9FC07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86B13089-C1C0-4456-B988-30C9E4942A6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00328221"/>
              </p:ext>
            </p:extLst>
          </p:nvPr>
        </p:nvGraphicFramePr>
        <p:xfrm>
          <a:off x="1010039" y="997602"/>
          <a:ext cx="7123917" cy="33493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Shape 0">
            <a:extLst>
              <a:ext uri="{FF2B5EF4-FFF2-40B4-BE49-F238E27FC236}">
                <a16:creationId xmlns:a16="http://schemas.microsoft.com/office/drawing/2014/main" id="{6B879398-D2EA-C08D-EADB-A478CB3C74B0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0A0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2ACE42F-3A87-BBF1-F330-18A8F7F1479B}"/>
              </a:ext>
            </a:extLst>
          </p:cNvPr>
          <p:cNvSpPr/>
          <p:nvPr/>
        </p:nvSpPr>
        <p:spPr>
          <a:xfrm>
            <a:off x="274320" y="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GROWTH</a:t>
            </a:r>
            <a:endParaRPr lang="en-US" sz="20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088247B-3FFF-0FD3-3BC4-F8260814AD57}"/>
              </a:ext>
            </a:extLst>
          </p:cNvPr>
          <p:cNvSpPr/>
          <p:nvPr/>
        </p:nvSpPr>
        <p:spPr>
          <a:xfrm>
            <a:off x="8321040" y="142646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b="1" dirty="0">
              <a:solidFill>
                <a:srgbClr val="D4AC0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6" name="Analysis_6">
            <a:extLst>
              <a:ext uri="{FF2B5EF4-FFF2-40B4-BE49-F238E27FC236}">
                <a16:creationId xmlns:a16="http://schemas.microsoft.com/office/drawing/2014/main" id="{805AFA44-74CE-DB6F-52A9-6A0D9D3028C5}"/>
              </a:ext>
            </a:extLst>
          </p:cNvPr>
          <p:cNvSpPr txBox="1"/>
          <p:nvPr/>
        </p:nvSpPr>
        <p:spPr>
          <a:xfrm>
            <a:off x="274320" y="4450080"/>
            <a:ext cx="8595360" cy="609600"/>
          </a:xfrm>
          <a:prstGeom prst="rect">
            <a:avLst/>
          </a:prstGeom>
          <a:solidFill>
            <a:srgbClr val="F2F2F2"/>
          </a:solidFill>
          <a:ln w="12700">
            <a:solidFill>
              <a:srgbClr val="C0392B"/>
            </a:solidFill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000" b="0" dirty="0">
                <a:solidFill>
                  <a:srgbClr val="1A1A1A"/>
                </a:solidFill>
                <a:latin typeface="Calibri" pitchFamily="34" charset="0"/>
              </a:rPr>
              <a:t>📌 Analysis: Restaurant listings grew steadily from 2010, peaking around 2017–2018, indicating rapid platform adoption. The growth curve reflects Zomato's aggressive onboarding strategy, though year-on-year slowdowns in later years may signal market saturation in core geographies.</a:t>
            </a:r>
          </a:p>
        </p:txBody>
      </p:sp>
    </p:spTree>
    <p:extLst>
      <p:ext uri="{BB962C8B-B14F-4D97-AF65-F5344CB8AC3E}">
        <p14:creationId xmlns:p14="http://schemas.microsoft.com/office/powerpoint/2010/main" val="22114592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15F4A7-9D88-34C4-FCF5-2FE364F2C1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EE31AE09-4705-4B76-A527-7FA6784D813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3284860"/>
              </p:ext>
            </p:extLst>
          </p:nvPr>
        </p:nvGraphicFramePr>
        <p:xfrm>
          <a:off x="1010040" y="984305"/>
          <a:ext cx="7123917" cy="33485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Shape 0">
            <a:extLst>
              <a:ext uri="{FF2B5EF4-FFF2-40B4-BE49-F238E27FC236}">
                <a16:creationId xmlns:a16="http://schemas.microsoft.com/office/drawing/2014/main" id="{D57DAAB7-1041-063C-5BB8-02C716A9B54E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04601BB-F4EC-7096-7980-0DE6FDA76E70}"/>
              </a:ext>
            </a:extLst>
          </p:cNvPr>
          <p:cNvSpPr/>
          <p:nvPr/>
        </p:nvSpPr>
        <p:spPr>
          <a:xfrm>
            <a:off x="274320" y="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</a:t>
            </a:r>
            <a:endParaRPr lang="en-US" sz="20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2313F48-D043-E5EF-CDF4-FF3C2771EF8A}"/>
              </a:ext>
            </a:extLst>
          </p:cNvPr>
          <p:cNvSpPr/>
          <p:nvPr/>
        </p:nvSpPr>
        <p:spPr>
          <a:xfrm>
            <a:off x="8321040" y="142646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b="1" dirty="0">
              <a:solidFill>
                <a:srgbClr val="D4AC0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6" name="Analysis_7">
            <a:extLst>
              <a:ext uri="{FF2B5EF4-FFF2-40B4-BE49-F238E27FC236}">
                <a16:creationId xmlns:a16="http://schemas.microsoft.com/office/drawing/2014/main" id="{9460D8F2-0140-2939-8BBF-3CB223BCEA99}"/>
              </a:ext>
            </a:extLst>
          </p:cNvPr>
          <p:cNvSpPr txBox="1"/>
          <p:nvPr/>
        </p:nvSpPr>
        <p:spPr>
          <a:xfrm>
            <a:off x="274318" y="4430891"/>
            <a:ext cx="8595360" cy="609600"/>
          </a:xfrm>
          <a:prstGeom prst="rect">
            <a:avLst/>
          </a:prstGeom>
          <a:solidFill>
            <a:srgbClr val="F2F2F2"/>
          </a:solidFill>
          <a:ln w="12700">
            <a:solidFill>
              <a:srgbClr val="C0392B"/>
            </a:solidFill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000" b="0" dirty="0">
                <a:solidFill>
                  <a:srgbClr val="1A1A1A"/>
                </a:solidFill>
                <a:latin typeface="Calibri" pitchFamily="34" charset="0"/>
              </a:rPr>
              <a:t>📌 Analysis: Most restaurants cluster in the 2.5–3.5 rating range, with relatively few achieving scores above 4.0. This highlights a quality gap in the market — a major opportunity for Zomato to curate and promote higher-quality restaurant partners.</a:t>
            </a:r>
          </a:p>
        </p:txBody>
      </p:sp>
    </p:spTree>
    <p:extLst>
      <p:ext uri="{BB962C8B-B14F-4D97-AF65-F5344CB8AC3E}">
        <p14:creationId xmlns:p14="http://schemas.microsoft.com/office/powerpoint/2010/main" val="36127056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881F7F-931E-F3FF-903F-2BD68B033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5AABE2BF-B50D-45AC-9783-B93615696C3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26293637"/>
              </p:ext>
            </p:extLst>
          </p:nvPr>
        </p:nvGraphicFramePr>
        <p:xfrm>
          <a:off x="1010040" y="984306"/>
          <a:ext cx="7123916" cy="33485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Shape 0">
            <a:extLst>
              <a:ext uri="{FF2B5EF4-FFF2-40B4-BE49-F238E27FC236}">
                <a16:creationId xmlns:a16="http://schemas.microsoft.com/office/drawing/2014/main" id="{0E1E4AB9-C1BB-9250-7A12-FD6CACA68CE6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0A0A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9BB0231-D2DC-AA8B-FDE8-F50E0912B7F0}"/>
              </a:ext>
            </a:extLst>
          </p:cNvPr>
          <p:cNvSpPr/>
          <p:nvPr/>
        </p:nvSpPr>
        <p:spPr>
          <a:xfrm>
            <a:off x="274320" y="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VOTES</a:t>
            </a:r>
            <a:endParaRPr lang="en-US" sz="2000" dirty="0"/>
          </a:p>
        </p:txBody>
      </p:sp>
      <p:sp>
        <p:nvSpPr>
          <p:cNvPr id="6" name="Analysis_8">
            <a:extLst>
              <a:ext uri="{FF2B5EF4-FFF2-40B4-BE49-F238E27FC236}">
                <a16:creationId xmlns:a16="http://schemas.microsoft.com/office/drawing/2014/main" id="{1FEDB15B-6593-5D53-C46D-C38B55F7FA7D}"/>
              </a:ext>
            </a:extLst>
          </p:cNvPr>
          <p:cNvSpPr txBox="1"/>
          <p:nvPr/>
        </p:nvSpPr>
        <p:spPr>
          <a:xfrm>
            <a:off x="274318" y="4440702"/>
            <a:ext cx="8595360" cy="609600"/>
          </a:xfrm>
          <a:prstGeom prst="rect">
            <a:avLst/>
          </a:prstGeom>
          <a:solidFill>
            <a:srgbClr val="F2F2F2"/>
          </a:solidFill>
          <a:ln w="12700">
            <a:solidFill>
              <a:srgbClr val="C0392B"/>
            </a:solidFill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000" b="0" dirty="0">
                <a:solidFill>
                  <a:srgbClr val="1A1A1A"/>
                </a:solidFill>
                <a:latin typeface="Calibri" pitchFamily="34" charset="0"/>
              </a:rPr>
              <a:t>📌 Analysis: Vote counts are highly skewed. This suggests strong brand loyalty concentration, meaning new entrants must invest heavily in visibility and customer engagement to break through.</a:t>
            </a:r>
          </a:p>
        </p:txBody>
      </p:sp>
    </p:spTree>
    <p:extLst>
      <p:ext uri="{BB962C8B-B14F-4D97-AF65-F5344CB8AC3E}">
        <p14:creationId xmlns:p14="http://schemas.microsoft.com/office/powerpoint/2010/main" val="2492976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069948-2F43-1C2E-60A7-79D0D45DA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55920375-BF20-788B-7D4E-C6F3CDB8CA5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47779010"/>
              </p:ext>
            </p:extLst>
          </p:nvPr>
        </p:nvGraphicFramePr>
        <p:xfrm>
          <a:off x="1010040" y="984305"/>
          <a:ext cx="7123917" cy="33485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Shape 0">
            <a:extLst>
              <a:ext uri="{FF2B5EF4-FFF2-40B4-BE49-F238E27FC236}">
                <a16:creationId xmlns:a16="http://schemas.microsoft.com/office/drawing/2014/main" id="{7E3275F7-FFA2-BE41-9220-70377285DCA4}"/>
              </a:ext>
            </a:extLst>
          </p:cNvPr>
          <p:cNvSpPr/>
          <p:nvPr/>
        </p:nvSpPr>
        <p:spPr>
          <a:xfrm>
            <a:off x="0" y="7034"/>
            <a:ext cx="9144000" cy="91440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C5AA4A8-8043-3777-B492-8A7A263FC82F}"/>
              </a:ext>
            </a:extLst>
          </p:cNvPr>
          <p:cNvSpPr/>
          <p:nvPr/>
        </p:nvSpPr>
        <p:spPr>
          <a:xfrm>
            <a:off x="274320" y="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CUISINES</a:t>
            </a:r>
            <a:endParaRPr lang="en-US" sz="20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CE12982-F9BF-F1D6-0B87-D4ED0042490A}"/>
              </a:ext>
            </a:extLst>
          </p:cNvPr>
          <p:cNvSpPr/>
          <p:nvPr/>
        </p:nvSpPr>
        <p:spPr>
          <a:xfrm>
            <a:off x="8321040" y="142646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b="1" dirty="0">
              <a:solidFill>
                <a:srgbClr val="D4AC0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6" name="Analysis_9">
            <a:extLst>
              <a:ext uri="{FF2B5EF4-FFF2-40B4-BE49-F238E27FC236}">
                <a16:creationId xmlns:a16="http://schemas.microsoft.com/office/drawing/2014/main" id="{091B5E96-3575-0D44-1F8C-9E01DAAFF50C}"/>
              </a:ext>
            </a:extLst>
          </p:cNvPr>
          <p:cNvSpPr txBox="1"/>
          <p:nvPr/>
        </p:nvSpPr>
        <p:spPr>
          <a:xfrm>
            <a:off x="274320" y="4423856"/>
            <a:ext cx="8595360" cy="609600"/>
          </a:xfrm>
          <a:prstGeom prst="rect">
            <a:avLst/>
          </a:prstGeom>
          <a:solidFill>
            <a:srgbClr val="F2F2F2"/>
          </a:solidFill>
          <a:ln w="12700">
            <a:solidFill>
              <a:srgbClr val="C0392B"/>
            </a:solidFill>
          </a:ln>
        </p:spPr>
        <p:txBody>
          <a:bodyPr wrap="square" lIns="91440" tIns="45720" rIns="91440" bIns="45720" rtlCol="0" anchor="ctr"/>
          <a:lstStyle/>
          <a:p>
            <a:r>
              <a:rPr lang="en-US" sz="1000" dirty="0">
                <a:solidFill>
                  <a:srgbClr val="1A1A1A"/>
                </a:solidFill>
              </a:rPr>
              <a:t>📌 Analysis: </a:t>
            </a:r>
            <a:r>
              <a:rPr lang="en-US" sz="1000" dirty="0"/>
              <a:t>Healthy and diverse cuisines like Mexican, American &amp; Healthy Food (India) and Continental, Middle Eastern &amp; Asian (India) score 4.9 and 4.8 respectively, reflecting a growing global appetite for varied, health-conscious options. Meanwhile, comfort and casual foods like Bar Food, Burgers &amp; Steak (USA) and Bar Food (Turkey) both score 4.9, showing that indulgent, crowd-pleasing cuisines remain equally dominant in customer satisfaction.</a:t>
            </a:r>
            <a:endParaRPr lang="en-US" sz="1000" dirty="0">
              <a:solidFill>
                <a:srgbClr val="1A1A1A"/>
              </a:solidFill>
            </a:endParaRPr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3C94E046-353D-4E1A-B5B0-697B05C8190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85974011"/>
              </p:ext>
            </p:extLst>
          </p:nvPr>
        </p:nvGraphicFramePr>
        <p:xfrm>
          <a:off x="1010040" y="984305"/>
          <a:ext cx="7123917" cy="33485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3539610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5ED2A6-CF02-F053-D554-5701ED703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96BE849A-231B-C885-536C-E32E23DC3AE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83894740"/>
              </p:ext>
            </p:extLst>
          </p:nvPr>
        </p:nvGraphicFramePr>
        <p:xfrm>
          <a:off x="1010040" y="984305"/>
          <a:ext cx="7123916" cy="33485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Shape 0">
            <a:extLst>
              <a:ext uri="{FF2B5EF4-FFF2-40B4-BE49-F238E27FC236}">
                <a16:creationId xmlns:a16="http://schemas.microsoft.com/office/drawing/2014/main" id="{254D91BB-1581-6AB3-A22F-3302634D8AB9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0A0A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2F3AA88-43F7-BCE0-A2D1-701EC5820A88}"/>
              </a:ext>
            </a:extLst>
          </p:cNvPr>
          <p:cNvSpPr/>
          <p:nvPr/>
        </p:nvSpPr>
        <p:spPr>
          <a:xfrm>
            <a:off x="274320" y="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OF ONLINE DELIVERY AND ONLINE BOOKINGS ON RATINGS</a:t>
            </a:r>
            <a:endParaRPr lang="en-US" sz="2000" dirty="0"/>
          </a:p>
        </p:txBody>
      </p:sp>
      <p:sp>
        <p:nvSpPr>
          <p:cNvPr id="6" name="Analysis_10">
            <a:extLst>
              <a:ext uri="{FF2B5EF4-FFF2-40B4-BE49-F238E27FC236}">
                <a16:creationId xmlns:a16="http://schemas.microsoft.com/office/drawing/2014/main" id="{6C22DC2F-C835-4EA3-F361-DEFF1CEAF363}"/>
              </a:ext>
            </a:extLst>
          </p:cNvPr>
          <p:cNvSpPr txBox="1"/>
          <p:nvPr/>
        </p:nvSpPr>
        <p:spPr>
          <a:xfrm>
            <a:off x="274320" y="4419600"/>
            <a:ext cx="8595360" cy="609600"/>
          </a:xfrm>
          <a:prstGeom prst="rect">
            <a:avLst/>
          </a:prstGeom>
          <a:solidFill>
            <a:srgbClr val="F2F2F2"/>
          </a:solidFill>
          <a:ln w="12700">
            <a:solidFill>
              <a:srgbClr val="C0392B"/>
            </a:solidFill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000" b="0" dirty="0">
                <a:solidFill>
                  <a:srgbClr val="1A1A1A"/>
                </a:solidFill>
                <a:latin typeface="Calibri" pitchFamily="34" charset="0"/>
              </a:rPr>
              <a:t>📌 Analysis: Restaurants offering both online delivery and table booking achieve the highest average rating (3.60), while those offering neither score only 2.68. This clear performance gap confirms that adopting a full digital service model is critical to competitive success.</a:t>
            </a:r>
          </a:p>
        </p:txBody>
      </p:sp>
    </p:spTree>
    <p:extLst>
      <p:ext uri="{BB962C8B-B14F-4D97-AF65-F5344CB8AC3E}">
        <p14:creationId xmlns:p14="http://schemas.microsoft.com/office/powerpoint/2010/main" val="35068577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5A4AF9-EDDF-EF76-8256-FEBB5A6B9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5DABDD8F-DC84-47FA-B32E-7F4C141079C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8993687"/>
              </p:ext>
            </p:extLst>
          </p:nvPr>
        </p:nvGraphicFramePr>
        <p:xfrm>
          <a:off x="1010040" y="984305"/>
          <a:ext cx="7123916" cy="33485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Shape 0">
            <a:extLst>
              <a:ext uri="{FF2B5EF4-FFF2-40B4-BE49-F238E27FC236}">
                <a16:creationId xmlns:a16="http://schemas.microsoft.com/office/drawing/2014/main" id="{7EECF38E-718C-397F-B6C2-A30343ECA7F2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71DE235-4223-F5D4-5D02-42752222B01C}"/>
              </a:ext>
            </a:extLst>
          </p:cNvPr>
          <p:cNvSpPr/>
          <p:nvPr/>
        </p:nvSpPr>
        <p:spPr>
          <a:xfrm>
            <a:off x="274320" y="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COST OF TWO</a:t>
            </a:r>
            <a:endParaRPr lang="en-US" sz="20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0E2953A-6D01-76B1-2D07-4578E84C7029}"/>
              </a:ext>
            </a:extLst>
          </p:cNvPr>
          <p:cNvSpPr/>
          <p:nvPr/>
        </p:nvSpPr>
        <p:spPr>
          <a:xfrm>
            <a:off x="8321040" y="142646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b="1" dirty="0">
              <a:solidFill>
                <a:srgbClr val="D4AC0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5" name="Analysis_11">
            <a:extLst>
              <a:ext uri="{FF2B5EF4-FFF2-40B4-BE49-F238E27FC236}">
                <a16:creationId xmlns:a16="http://schemas.microsoft.com/office/drawing/2014/main" id="{DC0E86CB-53C6-8EEA-8CF4-EB424677EC7B}"/>
              </a:ext>
            </a:extLst>
          </p:cNvPr>
          <p:cNvSpPr txBox="1"/>
          <p:nvPr/>
        </p:nvSpPr>
        <p:spPr>
          <a:xfrm>
            <a:off x="274318" y="4433668"/>
            <a:ext cx="8595360" cy="609600"/>
          </a:xfrm>
          <a:prstGeom prst="rect">
            <a:avLst/>
          </a:prstGeom>
          <a:solidFill>
            <a:srgbClr val="F2F2F2"/>
          </a:solidFill>
          <a:ln w="12700">
            <a:solidFill>
              <a:srgbClr val="C0392B"/>
            </a:solidFill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000" b="0" dirty="0">
                <a:solidFill>
                  <a:srgbClr val="1A1A1A"/>
                </a:solidFill>
                <a:latin typeface="Calibri" pitchFamily="34" charset="0"/>
              </a:rPr>
              <a:t>📌 Analysis: Average cost for two varies dramatically by country — from budget-friendly markets like India and Turkey to premium markets like New Zealand and Philippines. Pricing strategy must be localised, with higher price points correlating to better perceived quality and ratings.</a:t>
            </a:r>
          </a:p>
        </p:txBody>
      </p:sp>
    </p:spTree>
    <p:extLst>
      <p:ext uri="{BB962C8B-B14F-4D97-AF65-F5344CB8AC3E}">
        <p14:creationId xmlns:p14="http://schemas.microsoft.com/office/powerpoint/2010/main" val="33381910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6DF0A1-598F-1C96-06F9-36E80C0433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2FA7F4FA-A7FC-42BC-B67B-7A5FF5B47A1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64537031"/>
              </p:ext>
            </p:extLst>
          </p:nvPr>
        </p:nvGraphicFramePr>
        <p:xfrm>
          <a:off x="1010039" y="984305"/>
          <a:ext cx="7123917" cy="33485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Shape 0">
            <a:extLst>
              <a:ext uri="{FF2B5EF4-FFF2-40B4-BE49-F238E27FC236}">
                <a16:creationId xmlns:a16="http://schemas.microsoft.com/office/drawing/2014/main" id="{E4BAA442-C3F2-A225-DC39-746B8E341B79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0A0A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9C85A06-9CF0-6C19-D703-689C0C80674C}"/>
              </a:ext>
            </a:extLst>
          </p:cNvPr>
          <p:cNvSpPr/>
          <p:nvPr/>
        </p:nvSpPr>
        <p:spPr>
          <a:xfrm>
            <a:off x="274320" y="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RANGE BY COUNTRY</a:t>
            </a:r>
            <a:endParaRPr lang="en-US" sz="2000" dirty="0"/>
          </a:p>
        </p:txBody>
      </p:sp>
      <p:sp>
        <p:nvSpPr>
          <p:cNvPr id="5" name="Analysis_12">
            <a:extLst>
              <a:ext uri="{FF2B5EF4-FFF2-40B4-BE49-F238E27FC236}">
                <a16:creationId xmlns:a16="http://schemas.microsoft.com/office/drawing/2014/main" id="{3A9B1F1B-5415-7C02-73E3-0097B6129DCF}"/>
              </a:ext>
            </a:extLst>
          </p:cNvPr>
          <p:cNvSpPr txBox="1"/>
          <p:nvPr/>
        </p:nvSpPr>
        <p:spPr>
          <a:xfrm>
            <a:off x="274317" y="4412566"/>
            <a:ext cx="8595360" cy="609600"/>
          </a:xfrm>
          <a:prstGeom prst="rect">
            <a:avLst/>
          </a:prstGeom>
          <a:solidFill>
            <a:srgbClr val="F2F2F2"/>
          </a:solidFill>
          <a:ln w="12700">
            <a:solidFill>
              <a:srgbClr val="C0392B"/>
            </a:solidFill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000" b="0" dirty="0">
                <a:solidFill>
                  <a:srgbClr val="1A1A1A"/>
                </a:solidFill>
                <a:latin typeface="Calibri" pitchFamily="34" charset="0"/>
              </a:rPr>
              <a:t>📌 Analysis: Price Range 1 (cheap) dominates across most countries, but markets like South Africa and New Zealand show a strong lean toward mid-to-premium pricing. Restaurants at Price Range 3–4 consistently earn higher ratings, reinforcing a premium positioning strategy for expansion.</a:t>
            </a:r>
          </a:p>
        </p:txBody>
      </p:sp>
    </p:spTree>
    <p:extLst>
      <p:ext uri="{BB962C8B-B14F-4D97-AF65-F5344CB8AC3E}">
        <p14:creationId xmlns:p14="http://schemas.microsoft.com/office/powerpoint/2010/main" val="34920516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0A0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6B95C1-A504-B7C1-A4BB-C816FFAB0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B419FC3-8FCD-E144-ABC3-D647D2D13A79}"/>
              </a:ext>
            </a:extLst>
          </p:cNvPr>
          <p:cNvSpPr/>
          <p:nvPr/>
        </p:nvSpPr>
        <p:spPr>
          <a:xfrm>
            <a:off x="7034" y="7034"/>
            <a:ext cx="9144000" cy="91440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7E0BDBC-ADC6-E62F-3D2C-EFA4C1CE1028}"/>
              </a:ext>
            </a:extLst>
          </p:cNvPr>
          <p:cNvSpPr/>
          <p:nvPr/>
        </p:nvSpPr>
        <p:spPr>
          <a:xfrm>
            <a:off x="274320" y="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FOCUSED ANALYSIS ON THE RECOMMMENDED COUNTRIES – OVERVIEW </a:t>
            </a:r>
            <a:endParaRPr lang="en-US" sz="2000" dirty="0"/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B22B8085-8998-F5A3-B479-124808EE65C1}"/>
              </a:ext>
            </a:extLst>
          </p:cNvPr>
          <p:cNvGrpSpPr/>
          <p:nvPr/>
        </p:nvGrpSpPr>
        <p:grpSpPr>
          <a:xfrm>
            <a:off x="4610686" y="1867251"/>
            <a:ext cx="4258994" cy="1674054"/>
            <a:chOff x="4572000" y="1245108"/>
            <a:chExt cx="4258994" cy="1674054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16632038-BA20-2B47-2B1A-36E5C81A5ECD}"/>
                </a:ext>
              </a:extLst>
            </p:cNvPr>
            <p:cNvGrpSpPr/>
            <p:nvPr/>
          </p:nvGrpSpPr>
          <p:grpSpPr>
            <a:xfrm>
              <a:off x="4579034" y="1245108"/>
              <a:ext cx="4251960" cy="429768"/>
              <a:chOff x="228600" y="1005840"/>
              <a:chExt cx="4251960" cy="429768"/>
            </a:xfrm>
          </p:grpSpPr>
          <p:sp>
            <p:nvSpPr>
              <p:cNvPr id="32" name="Shape 2">
                <a:extLst>
                  <a:ext uri="{FF2B5EF4-FFF2-40B4-BE49-F238E27FC236}">
                    <a16:creationId xmlns:a16="http://schemas.microsoft.com/office/drawing/2014/main" id="{4DFEA854-8DEB-6D4C-7819-7ACED12E79D4}"/>
                  </a:ext>
                </a:extLst>
              </p:cNvPr>
              <p:cNvSpPr/>
              <p:nvPr/>
            </p:nvSpPr>
            <p:spPr>
              <a:xfrm>
                <a:off x="228600" y="1005840"/>
                <a:ext cx="4251960" cy="384048"/>
              </a:xfrm>
              <a:prstGeom prst="rect">
                <a:avLst/>
              </a:prstGeom>
              <a:solidFill>
                <a:srgbClr val="2C0A0A"/>
              </a:solidFill>
              <a:ln w="12700">
                <a:solidFill>
                  <a:srgbClr val="E74C3C"/>
                </a:solidFill>
                <a:prstDash val="solid"/>
              </a:ln>
              <a:effectLst>
                <a:outerShdw blurRad="76200" dist="25400" dir="8100000" algn="bl" rotWithShape="0">
                  <a:srgbClr val="000000">
                    <a:alpha val="30000"/>
                  </a:srgbClr>
                </a:outerShdw>
              </a:effectLst>
            </p:spPr>
            <p:txBody>
              <a:bodyPr/>
              <a:lstStyle/>
              <a:p>
                <a:endParaRPr lang="en-IN"/>
              </a:p>
            </p:txBody>
          </p:sp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FEEAE882-82E9-9679-46F1-D492D6653BE9}"/>
                  </a:ext>
                </a:extLst>
              </p:cNvPr>
              <p:cNvGrpSpPr/>
              <p:nvPr/>
            </p:nvGrpSpPr>
            <p:grpSpPr>
              <a:xfrm>
                <a:off x="228600" y="1005840"/>
                <a:ext cx="4084320" cy="429768"/>
                <a:chOff x="228600" y="1005840"/>
                <a:chExt cx="4084320" cy="429768"/>
              </a:xfrm>
            </p:grpSpPr>
            <p:sp>
              <p:nvSpPr>
                <p:cNvPr id="34" name="Text 4">
                  <a:extLst>
                    <a:ext uri="{FF2B5EF4-FFF2-40B4-BE49-F238E27FC236}">
                      <a16:creationId xmlns:a16="http://schemas.microsoft.com/office/drawing/2014/main" id="{F02D5E9E-C661-53CE-ABCD-1155991462CA}"/>
                    </a:ext>
                  </a:extLst>
                </p:cNvPr>
                <p:cNvSpPr/>
                <p:nvPr/>
              </p:nvSpPr>
              <p:spPr>
                <a:xfrm>
                  <a:off x="228600" y="1005840"/>
                  <a:ext cx="502920" cy="384048"/>
                </a:xfrm>
                <a:prstGeom prst="rect">
                  <a:avLst/>
                </a:prstGeom>
                <a:solidFill>
                  <a:srgbClr val="E74C3C"/>
                </a:solidFill>
                <a:ln/>
              </p:spPr>
              <p:txBody>
                <a:bodyPr/>
                <a:lstStyle/>
                <a:p>
                  <a:r>
                    <a:rPr lang="en-US" dirty="0"/>
                    <a:t>05</a:t>
                  </a:r>
                </a:p>
              </p:txBody>
            </p:sp>
            <p:sp>
              <p:nvSpPr>
                <p:cNvPr id="35" name="Text 5">
                  <a:extLst>
                    <a:ext uri="{FF2B5EF4-FFF2-40B4-BE49-F238E27FC236}">
                      <a16:creationId xmlns:a16="http://schemas.microsoft.com/office/drawing/2014/main" id="{71024572-1A50-74C0-0C70-733829A0C755}"/>
                    </a:ext>
                  </a:extLst>
                </p:cNvPr>
                <p:cNvSpPr/>
                <p:nvPr/>
              </p:nvSpPr>
              <p:spPr>
                <a:xfrm>
                  <a:off x="792480" y="1114865"/>
                  <a:ext cx="3520440" cy="320743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algn="ctr"/>
                  <a:r>
                    <a:rPr lang="en-US" sz="1200" b="1" dirty="0">
                      <a:solidFill>
                        <a:srgbClr val="FFFFFF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COMPETITIVE LANDSCAPE IN TARGET MARKETS</a:t>
                  </a:r>
                  <a:endParaRPr lang="en-US" sz="1200" dirty="0"/>
                </a:p>
                <a:p>
                  <a:pPr marL="0" indent="0">
                    <a:buNone/>
                  </a:pPr>
                  <a:endParaRPr lang="en-US" sz="1200" b="1" dirty="0">
                    <a:solidFill>
                      <a:srgbClr val="E74C3C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endParaRPr>
                </a:p>
              </p:txBody>
            </p:sp>
          </p:grpSp>
        </p:grp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19511084-0515-26C5-E24D-D9642E8952EA}"/>
                </a:ext>
              </a:extLst>
            </p:cNvPr>
            <p:cNvGrpSpPr/>
            <p:nvPr/>
          </p:nvGrpSpPr>
          <p:grpSpPr>
            <a:xfrm>
              <a:off x="4572000" y="1867251"/>
              <a:ext cx="4251960" cy="429768"/>
              <a:chOff x="228600" y="1005840"/>
              <a:chExt cx="4251960" cy="429768"/>
            </a:xfrm>
          </p:grpSpPr>
          <p:sp>
            <p:nvSpPr>
              <p:cNvPr id="47" name="Shape 2">
                <a:extLst>
                  <a:ext uri="{FF2B5EF4-FFF2-40B4-BE49-F238E27FC236}">
                    <a16:creationId xmlns:a16="http://schemas.microsoft.com/office/drawing/2014/main" id="{C58D73A0-D7C4-8C34-35CC-D76D3F30CB46}"/>
                  </a:ext>
                </a:extLst>
              </p:cNvPr>
              <p:cNvSpPr/>
              <p:nvPr/>
            </p:nvSpPr>
            <p:spPr>
              <a:xfrm>
                <a:off x="228600" y="1005840"/>
                <a:ext cx="4251960" cy="384048"/>
              </a:xfrm>
              <a:prstGeom prst="rect">
                <a:avLst/>
              </a:prstGeom>
              <a:solidFill>
                <a:srgbClr val="2C0A0A"/>
              </a:solidFill>
              <a:ln w="12700">
                <a:solidFill>
                  <a:srgbClr val="E74C3C"/>
                </a:solidFill>
                <a:prstDash val="solid"/>
              </a:ln>
              <a:effectLst>
                <a:outerShdw blurRad="76200" dist="25400" dir="8100000" algn="bl" rotWithShape="0">
                  <a:srgbClr val="000000">
                    <a:alpha val="30000"/>
                  </a:srgbClr>
                </a:outerShdw>
              </a:effectLst>
            </p:spPr>
            <p:txBody>
              <a:bodyPr/>
              <a:lstStyle/>
              <a:p>
                <a:endParaRPr lang="en-IN"/>
              </a:p>
            </p:txBody>
          </p:sp>
          <p:grpSp>
            <p:nvGrpSpPr>
              <p:cNvPr id="48" name="Group 47">
                <a:extLst>
                  <a:ext uri="{FF2B5EF4-FFF2-40B4-BE49-F238E27FC236}">
                    <a16:creationId xmlns:a16="http://schemas.microsoft.com/office/drawing/2014/main" id="{2F551333-ACD6-6E34-EA3D-32EBC725D15B}"/>
                  </a:ext>
                </a:extLst>
              </p:cNvPr>
              <p:cNvGrpSpPr/>
              <p:nvPr/>
            </p:nvGrpSpPr>
            <p:grpSpPr>
              <a:xfrm>
                <a:off x="228600" y="1005840"/>
                <a:ext cx="4084320" cy="429768"/>
                <a:chOff x="228600" y="1005840"/>
                <a:chExt cx="4084320" cy="429768"/>
              </a:xfrm>
            </p:grpSpPr>
            <p:sp>
              <p:nvSpPr>
                <p:cNvPr id="49" name="Text 4">
                  <a:extLst>
                    <a:ext uri="{FF2B5EF4-FFF2-40B4-BE49-F238E27FC236}">
                      <a16:creationId xmlns:a16="http://schemas.microsoft.com/office/drawing/2014/main" id="{713CD144-853E-47A8-1469-5C64082C8085}"/>
                    </a:ext>
                  </a:extLst>
                </p:cNvPr>
                <p:cNvSpPr/>
                <p:nvPr/>
              </p:nvSpPr>
              <p:spPr>
                <a:xfrm>
                  <a:off x="228600" y="1005840"/>
                  <a:ext cx="502920" cy="384048"/>
                </a:xfrm>
                <a:prstGeom prst="rect">
                  <a:avLst/>
                </a:prstGeom>
                <a:solidFill>
                  <a:srgbClr val="E74C3C"/>
                </a:solidFill>
                <a:ln/>
              </p:spPr>
              <p:txBody>
                <a:bodyPr/>
                <a:lstStyle/>
                <a:p>
                  <a:r>
                    <a:rPr lang="en-US" dirty="0"/>
                    <a:t>06</a:t>
                  </a:r>
                </a:p>
              </p:txBody>
            </p:sp>
            <p:sp>
              <p:nvSpPr>
                <p:cNvPr id="50" name="Text 5">
                  <a:extLst>
                    <a:ext uri="{FF2B5EF4-FFF2-40B4-BE49-F238E27FC236}">
                      <a16:creationId xmlns:a16="http://schemas.microsoft.com/office/drawing/2014/main" id="{0A32AD01-B00A-283D-63E5-346A4EACEE01}"/>
                    </a:ext>
                  </a:extLst>
                </p:cNvPr>
                <p:cNvSpPr/>
                <p:nvPr/>
              </p:nvSpPr>
              <p:spPr>
                <a:xfrm>
                  <a:off x="792480" y="1114865"/>
                  <a:ext cx="3520440" cy="320743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algn="ctr"/>
                  <a:r>
                    <a:rPr lang="en-US" sz="1200" b="1" dirty="0">
                      <a:solidFill>
                        <a:srgbClr val="FFFFFF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CUISINE STRATEGY &amp; SERVICE MODEL</a:t>
                  </a:r>
                  <a:endParaRPr lang="en-US" sz="1200" dirty="0"/>
                </a:p>
                <a:p>
                  <a:pPr marL="0" indent="0">
                    <a:buNone/>
                  </a:pPr>
                  <a:endParaRPr lang="en-US" sz="1200" b="1" dirty="0">
                    <a:solidFill>
                      <a:srgbClr val="E74C3C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endParaRPr>
                </a:p>
              </p:txBody>
            </p:sp>
          </p:grpSp>
        </p:grp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EDEFF15A-D169-5B0F-DF87-8DB986682E26}"/>
                </a:ext>
              </a:extLst>
            </p:cNvPr>
            <p:cNvGrpSpPr/>
            <p:nvPr/>
          </p:nvGrpSpPr>
          <p:grpSpPr>
            <a:xfrm>
              <a:off x="4579034" y="2489394"/>
              <a:ext cx="4251960" cy="429768"/>
              <a:chOff x="228600" y="1005840"/>
              <a:chExt cx="4251960" cy="429768"/>
            </a:xfrm>
          </p:grpSpPr>
          <p:sp>
            <p:nvSpPr>
              <p:cNvPr id="52" name="Shape 2">
                <a:extLst>
                  <a:ext uri="{FF2B5EF4-FFF2-40B4-BE49-F238E27FC236}">
                    <a16:creationId xmlns:a16="http://schemas.microsoft.com/office/drawing/2014/main" id="{05B50ED0-6CCB-ABB1-D57C-98A416C0E2B6}"/>
                  </a:ext>
                </a:extLst>
              </p:cNvPr>
              <p:cNvSpPr/>
              <p:nvPr/>
            </p:nvSpPr>
            <p:spPr>
              <a:xfrm>
                <a:off x="228600" y="1005840"/>
                <a:ext cx="4251960" cy="384048"/>
              </a:xfrm>
              <a:prstGeom prst="rect">
                <a:avLst/>
              </a:prstGeom>
              <a:solidFill>
                <a:srgbClr val="2C0A0A"/>
              </a:solidFill>
              <a:ln w="12700">
                <a:solidFill>
                  <a:srgbClr val="E74C3C"/>
                </a:solidFill>
                <a:prstDash val="solid"/>
              </a:ln>
              <a:effectLst>
                <a:outerShdw blurRad="76200" dist="25400" dir="8100000" algn="bl" rotWithShape="0">
                  <a:srgbClr val="000000">
                    <a:alpha val="30000"/>
                  </a:srgbClr>
                </a:outerShdw>
              </a:effectLst>
            </p:spPr>
            <p:txBody>
              <a:bodyPr/>
              <a:lstStyle/>
              <a:p>
                <a:endParaRPr lang="en-IN"/>
              </a:p>
            </p:txBody>
          </p:sp>
          <p:grpSp>
            <p:nvGrpSpPr>
              <p:cNvPr id="53" name="Group 52">
                <a:extLst>
                  <a:ext uri="{FF2B5EF4-FFF2-40B4-BE49-F238E27FC236}">
                    <a16:creationId xmlns:a16="http://schemas.microsoft.com/office/drawing/2014/main" id="{8147C0EE-2B08-E1A3-68F9-C863301DA4F1}"/>
                  </a:ext>
                </a:extLst>
              </p:cNvPr>
              <p:cNvGrpSpPr/>
              <p:nvPr/>
            </p:nvGrpSpPr>
            <p:grpSpPr>
              <a:xfrm>
                <a:off x="228600" y="1005840"/>
                <a:ext cx="4084320" cy="429768"/>
                <a:chOff x="228600" y="1005840"/>
                <a:chExt cx="4084320" cy="429768"/>
              </a:xfrm>
            </p:grpSpPr>
            <p:sp>
              <p:nvSpPr>
                <p:cNvPr id="54" name="Text 4">
                  <a:extLst>
                    <a:ext uri="{FF2B5EF4-FFF2-40B4-BE49-F238E27FC236}">
                      <a16:creationId xmlns:a16="http://schemas.microsoft.com/office/drawing/2014/main" id="{C0363B55-2E7F-5500-F6C6-3D26D4C4BD75}"/>
                    </a:ext>
                  </a:extLst>
                </p:cNvPr>
                <p:cNvSpPr/>
                <p:nvPr/>
              </p:nvSpPr>
              <p:spPr>
                <a:xfrm>
                  <a:off x="228600" y="1005840"/>
                  <a:ext cx="502920" cy="384048"/>
                </a:xfrm>
                <a:prstGeom prst="rect">
                  <a:avLst/>
                </a:prstGeom>
                <a:solidFill>
                  <a:srgbClr val="E74C3C"/>
                </a:solidFill>
                <a:ln/>
              </p:spPr>
              <p:txBody>
                <a:bodyPr/>
                <a:lstStyle/>
                <a:p>
                  <a:r>
                    <a:rPr lang="en-US" dirty="0"/>
                    <a:t>07</a:t>
                  </a:r>
                </a:p>
              </p:txBody>
            </p:sp>
            <p:sp>
              <p:nvSpPr>
                <p:cNvPr id="55" name="Text 5">
                  <a:extLst>
                    <a:ext uri="{FF2B5EF4-FFF2-40B4-BE49-F238E27FC236}">
                      <a16:creationId xmlns:a16="http://schemas.microsoft.com/office/drawing/2014/main" id="{623FAAA0-07EB-DBA9-10BA-1C746C18A2B2}"/>
                    </a:ext>
                  </a:extLst>
                </p:cNvPr>
                <p:cNvSpPr/>
                <p:nvPr/>
              </p:nvSpPr>
              <p:spPr>
                <a:xfrm>
                  <a:off x="792480" y="1114865"/>
                  <a:ext cx="3520440" cy="320743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algn="ctr"/>
                  <a:r>
                    <a:rPr lang="en-US" sz="1200" b="1" dirty="0">
                      <a:solidFill>
                        <a:srgbClr val="FFFFFF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PRICING STRATEGY: CORRELATION &amp; DISTRIBUTION</a:t>
                  </a:r>
                  <a:endParaRPr lang="en-US" sz="1200" dirty="0"/>
                </a:p>
                <a:p>
                  <a:pPr marL="0" indent="0">
                    <a:buNone/>
                  </a:pPr>
                  <a:endParaRPr lang="en-US" sz="1200" dirty="0">
                    <a:solidFill>
                      <a:srgbClr val="E74C3C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endParaRPr>
                </a:p>
              </p:txBody>
            </p:sp>
          </p:grpSp>
        </p:grp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45A05D92-7E69-0365-E81B-66F2CFB59DF9}"/>
              </a:ext>
            </a:extLst>
          </p:cNvPr>
          <p:cNvGrpSpPr/>
          <p:nvPr/>
        </p:nvGrpSpPr>
        <p:grpSpPr>
          <a:xfrm>
            <a:off x="159434" y="1867251"/>
            <a:ext cx="4251960" cy="2306513"/>
            <a:chOff x="150057" y="1245108"/>
            <a:chExt cx="4251960" cy="2306513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012654ED-FE02-30AF-A7C4-0EBE0BC2FC67}"/>
                </a:ext>
              </a:extLst>
            </p:cNvPr>
            <p:cNvGrpSpPr/>
            <p:nvPr/>
          </p:nvGrpSpPr>
          <p:grpSpPr>
            <a:xfrm>
              <a:off x="150057" y="1245108"/>
              <a:ext cx="4251960" cy="429768"/>
              <a:chOff x="228600" y="1005840"/>
              <a:chExt cx="4251960" cy="429768"/>
            </a:xfrm>
          </p:grpSpPr>
          <p:sp>
            <p:nvSpPr>
              <p:cNvPr id="4" name="Shape 2">
                <a:extLst>
                  <a:ext uri="{FF2B5EF4-FFF2-40B4-BE49-F238E27FC236}">
                    <a16:creationId xmlns:a16="http://schemas.microsoft.com/office/drawing/2014/main" id="{2FA9BE3C-6C4A-ECEF-1FAA-E8D2A361E1DC}"/>
                  </a:ext>
                </a:extLst>
              </p:cNvPr>
              <p:cNvSpPr/>
              <p:nvPr/>
            </p:nvSpPr>
            <p:spPr>
              <a:xfrm>
                <a:off x="228600" y="1005840"/>
                <a:ext cx="4251960" cy="384048"/>
              </a:xfrm>
              <a:prstGeom prst="rect">
                <a:avLst/>
              </a:prstGeom>
              <a:solidFill>
                <a:srgbClr val="2C0A0A"/>
              </a:solidFill>
              <a:ln w="12700">
                <a:solidFill>
                  <a:srgbClr val="E74C3C"/>
                </a:solidFill>
                <a:prstDash val="solid"/>
              </a:ln>
              <a:effectLst>
                <a:outerShdw blurRad="76200" dist="25400" dir="8100000" algn="bl" rotWithShape="0">
                  <a:srgbClr val="000000">
                    <a:alpha val="30000"/>
                  </a:srgbClr>
                </a:outerShdw>
              </a:effectLst>
            </p:spPr>
            <p:txBody>
              <a:bodyPr/>
              <a:lstStyle/>
              <a:p>
                <a:endParaRPr lang="en-IN"/>
              </a:p>
            </p:txBody>
          </p:sp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50DC42B5-7485-02CE-4E78-4539F17938D6}"/>
                  </a:ext>
                </a:extLst>
              </p:cNvPr>
              <p:cNvGrpSpPr/>
              <p:nvPr/>
            </p:nvGrpSpPr>
            <p:grpSpPr>
              <a:xfrm>
                <a:off x="228600" y="1005840"/>
                <a:ext cx="4084320" cy="429768"/>
                <a:chOff x="228600" y="1005840"/>
                <a:chExt cx="4084320" cy="429768"/>
              </a:xfrm>
            </p:grpSpPr>
            <p:sp>
              <p:nvSpPr>
                <p:cNvPr id="6" name="Text 4">
                  <a:extLst>
                    <a:ext uri="{FF2B5EF4-FFF2-40B4-BE49-F238E27FC236}">
                      <a16:creationId xmlns:a16="http://schemas.microsoft.com/office/drawing/2014/main" id="{3CAC62BE-5544-3686-D57B-5ADE37301324}"/>
                    </a:ext>
                  </a:extLst>
                </p:cNvPr>
                <p:cNvSpPr/>
                <p:nvPr/>
              </p:nvSpPr>
              <p:spPr>
                <a:xfrm>
                  <a:off x="228600" y="1005840"/>
                  <a:ext cx="502920" cy="384048"/>
                </a:xfrm>
                <a:prstGeom prst="rect">
                  <a:avLst/>
                </a:prstGeom>
                <a:solidFill>
                  <a:srgbClr val="E74C3C"/>
                </a:solidFill>
                <a:ln/>
              </p:spPr>
              <p:txBody>
                <a:bodyPr/>
                <a:lstStyle/>
                <a:p>
                  <a:r>
                    <a:rPr lang="en-US" dirty="0"/>
                    <a:t>01</a:t>
                  </a:r>
                </a:p>
              </p:txBody>
            </p:sp>
            <p:sp>
              <p:nvSpPr>
                <p:cNvPr id="7" name="Text 5">
                  <a:extLst>
                    <a:ext uri="{FF2B5EF4-FFF2-40B4-BE49-F238E27FC236}">
                      <a16:creationId xmlns:a16="http://schemas.microsoft.com/office/drawing/2014/main" id="{DF51C3FA-7336-DC9E-5EB4-C9B90C398B7A}"/>
                    </a:ext>
                  </a:extLst>
                </p:cNvPr>
                <p:cNvSpPr/>
                <p:nvPr/>
              </p:nvSpPr>
              <p:spPr>
                <a:xfrm>
                  <a:off x="792480" y="1114865"/>
                  <a:ext cx="3520440" cy="320743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algn="ctr"/>
                  <a:r>
                    <a:rPr lang="en-US" sz="1200" b="1" dirty="0">
                      <a:solidFill>
                        <a:srgbClr val="FFFFFF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MARKET SELECTION: WHERE TO EXPAND?</a:t>
                  </a:r>
                  <a:endParaRPr lang="en-US" sz="1200" dirty="0"/>
                </a:p>
                <a:p>
                  <a:pPr marL="0" indent="0">
                    <a:buNone/>
                  </a:pPr>
                  <a:endParaRPr lang="en-US" sz="1200" b="1" dirty="0">
                    <a:solidFill>
                      <a:srgbClr val="E74C3C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endParaRPr>
                </a:p>
              </p:txBody>
            </p:sp>
          </p:grp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84735870-2791-F5B3-953F-AD9F75BBB985}"/>
                </a:ext>
              </a:extLst>
            </p:cNvPr>
            <p:cNvGrpSpPr/>
            <p:nvPr/>
          </p:nvGrpSpPr>
          <p:grpSpPr>
            <a:xfrm>
              <a:off x="150057" y="1867251"/>
              <a:ext cx="4251960" cy="429768"/>
              <a:chOff x="228600" y="1005840"/>
              <a:chExt cx="4251960" cy="429768"/>
            </a:xfrm>
          </p:grpSpPr>
          <p:sp>
            <p:nvSpPr>
              <p:cNvPr id="37" name="Shape 2">
                <a:extLst>
                  <a:ext uri="{FF2B5EF4-FFF2-40B4-BE49-F238E27FC236}">
                    <a16:creationId xmlns:a16="http://schemas.microsoft.com/office/drawing/2014/main" id="{C81E6990-2F9C-3354-4D2D-3DE703AD9461}"/>
                  </a:ext>
                </a:extLst>
              </p:cNvPr>
              <p:cNvSpPr/>
              <p:nvPr/>
            </p:nvSpPr>
            <p:spPr>
              <a:xfrm>
                <a:off x="228600" y="1005840"/>
                <a:ext cx="4251960" cy="384048"/>
              </a:xfrm>
              <a:prstGeom prst="rect">
                <a:avLst/>
              </a:prstGeom>
              <a:solidFill>
                <a:srgbClr val="2C0A0A"/>
              </a:solidFill>
              <a:ln w="12700">
                <a:solidFill>
                  <a:srgbClr val="E74C3C"/>
                </a:solidFill>
                <a:prstDash val="solid"/>
              </a:ln>
              <a:effectLst>
                <a:outerShdw blurRad="76200" dist="25400" dir="8100000" algn="bl" rotWithShape="0">
                  <a:srgbClr val="000000">
                    <a:alpha val="30000"/>
                  </a:srgbClr>
                </a:outerShdw>
              </a:effectLst>
            </p:spPr>
            <p:txBody>
              <a:bodyPr/>
              <a:lstStyle/>
              <a:p>
                <a:endParaRPr lang="en-IN"/>
              </a:p>
            </p:txBody>
          </p:sp>
          <p:grpSp>
            <p:nvGrpSpPr>
              <p:cNvPr id="38" name="Group 37">
                <a:extLst>
                  <a:ext uri="{FF2B5EF4-FFF2-40B4-BE49-F238E27FC236}">
                    <a16:creationId xmlns:a16="http://schemas.microsoft.com/office/drawing/2014/main" id="{75D4C5F3-ECE7-1026-977D-C9D9B7B0DF76}"/>
                  </a:ext>
                </a:extLst>
              </p:cNvPr>
              <p:cNvGrpSpPr/>
              <p:nvPr/>
            </p:nvGrpSpPr>
            <p:grpSpPr>
              <a:xfrm>
                <a:off x="228600" y="1005840"/>
                <a:ext cx="4084320" cy="429768"/>
                <a:chOff x="228600" y="1005840"/>
                <a:chExt cx="4084320" cy="429768"/>
              </a:xfrm>
            </p:grpSpPr>
            <p:sp>
              <p:nvSpPr>
                <p:cNvPr id="39" name="Text 4">
                  <a:extLst>
                    <a:ext uri="{FF2B5EF4-FFF2-40B4-BE49-F238E27FC236}">
                      <a16:creationId xmlns:a16="http://schemas.microsoft.com/office/drawing/2014/main" id="{C1C5CEF4-4024-EE18-0576-49D45E608E6C}"/>
                    </a:ext>
                  </a:extLst>
                </p:cNvPr>
                <p:cNvSpPr/>
                <p:nvPr/>
              </p:nvSpPr>
              <p:spPr>
                <a:xfrm>
                  <a:off x="228600" y="1005840"/>
                  <a:ext cx="502920" cy="384048"/>
                </a:xfrm>
                <a:prstGeom prst="rect">
                  <a:avLst/>
                </a:prstGeom>
                <a:solidFill>
                  <a:srgbClr val="E74C3C"/>
                </a:solidFill>
                <a:ln/>
              </p:spPr>
              <p:txBody>
                <a:bodyPr/>
                <a:lstStyle/>
                <a:p>
                  <a:r>
                    <a:rPr lang="en-US" dirty="0"/>
                    <a:t>02</a:t>
                  </a:r>
                </a:p>
              </p:txBody>
            </p:sp>
            <p:sp>
              <p:nvSpPr>
                <p:cNvPr id="40" name="Text 5">
                  <a:extLst>
                    <a:ext uri="{FF2B5EF4-FFF2-40B4-BE49-F238E27FC236}">
                      <a16:creationId xmlns:a16="http://schemas.microsoft.com/office/drawing/2014/main" id="{B6F5404C-65E9-511D-8422-76A74E873F8F}"/>
                    </a:ext>
                  </a:extLst>
                </p:cNvPr>
                <p:cNvSpPr/>
                <p:nvPr/>
              </p:nvSpPr>
              <p:spPr>
                <a:xfrm>
                  <a:off x="792480" y="1114865"/>
                  <a:ext cx="3520440" cy="320743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algn="ctr"/>
                  <a:r>
                    <a:rPr lang="en-US" sz="1200" b="1" dirty="0">
                      <a:solidFill>
                        <a:srgbClr val="FFFFFF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CITY RECOMMENDATIONS BY COUNTRY</a:t>
                  </a:r>
                  <a:endParaRPr lang="en-US" sz="1200" dirty="0"/>
                </a:p>
                <a:p>
                  <a:pPr marL="0" indent="0" algn="ctr">
                    <a:buNone/>
                  </a:pPr>
                  <a:endParaRPr lang="en-US" sz="1200" b="1" dirty="0">
                    <a:solidFill>
                      <a:srgbClr val="E74C3C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endParaRPr>
                </a:p>
              </p:txBody>
            </p:sp>
          </p:grpSp>
        </p:grp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A066C99A-5096-3574-7DD3-B50D7704760D}"/>
                </a:ext>
              </a:extLst>
            </p:cNvPr>
            <p:cNvGrpSpPr/>
            <p:nvPr/>
          </p:nvGrpSpPr>
          <p:grpSpPr>
            <a:xfrm>
              <a:off x="150057" y="2489394"/>
              <a:ext cx="4251960" cy="429768"/>
              <a:chOff x="228600" y="1005840"/>
              <a:chExt cx="4251960" cy="429768"/>
            </a:xfrm>
          </p:grpSpPr>
          <p:sp>
            <p:nvSpPr>
              <p:cNvPr id="57" name="Shape 2">
                <a:extLst>
                  <a:ext uri="{FF2B5EF4-FFF2-40B4-BE49-F238E27FC236}">
                    <a16:creationId xmlns:a16="http://schemas.microsoft.com/office/drawing/2014/main" id="{72AA390D-F67D-6247-D564-A9921A49558C}"/>
                  </a:ext>
                </a:extLst>
              </p:cNvPr>
              <p:cNvSpPr/>
              <p:nvPr/>
            </p:nvSpPr>
            <p:spPr>
              <a:xfrm>
                <a:off x="228600" y="1005840"/>
                <a:ext cx="4251960" cy="384048"/>
              </a:xfrm>
              <a:prstGeom prst="rect">
                <a:avLst/>
              </a:prstGeom>
              <a:solidFill>
                <a:srgbClr val="2C0A0A"/>
              </a:solidFill>
              <a:ln w="12700">
                <a:solidFill>
                  <a:srgbClr val="E74C3C"/>
                </a:solidFill>
                <a:prstDash val="solid"/>
              </a:ln>
              <a:effectLst>
                <a:outerShdw blurRad="76200" dist="25400" dir="8100000" algn="bl" rotWithShape="0">
                  <a:srgbClr val="000000">
                    <a:alpha val="30000"/>
                  </a:srgbClr>
                </a:outerShdw>
              </a:effectLst>
            </p:spPr>
            <p:txBody>
              <a:bodyPr/>
              <a:lstStyle/>
              <a:p>
                <a:endParaRPr lang="en-IN"/>
              </a:p>
            </p:txBody>
          </p:sp>
          <p:grpSp>
            <p:nvGrpSpPr>
              <p:cNvPr id="58" name="Group 57">
                <a:extLst>
                  <a:ext uri="{FF2B5EF4-FFF2-40B4-BE49-F238E27FC236}">
                    <a16:creationId xmlns:a16="http://schemas.microsoft.com/office/drawing/2014/main" id="{DF5B01ED-0C31-D275-694C-AD7AD9D37DE9}"/>
                  </a:ext>
                </a:extLst>
              </p:cNvPr>
              <p:cNvGrpSpPr/>
              <p:nvPr/>
            </p:nvGrpSpPr>
            <p:grpSpPr>
              <a:xfrm>
                <a:off x="228600" y="1005840"/>
                <a:ext cx="4084320" cy="429768"/>
                <a:chOff x="228600" y="1005840"/>
                <a:chExt cx="4084320" cy="429768"/>
              </a:xfrm>
            </p:grpSpPr>
            <p:sp>
              <p:nvSpPr>
                <p:cNvPr id="59" name="Text 4">
                  <a:extLst>
                    <a:ext uri="{FF2B5EF4-FFF2-40B4-BE49-F238E27FC236}">
                      <a16:creationId xmlns:a16="http://schemas.microsoft.com/office/drawing/2014/main" id="{AFCE7DFA-C778-9E0D-702B-981C617660C9}"/>
                    </a:ext>
                  </a:extLst>
                </p:cNvPr>
                <p:cNvSpPr/>
                <p:nvPr/>
              </p:nvSpPr>
              <p:spPr>
                <a:xfrm>
                  <a:off x="228600" y="1005840"/>
                  <a:ext cx="502920" cy="384048"/>
                </a:xfrm>
                <a:prstGeom prst="rect">
                  <a:avLst/>
                </a:prstGeom>
                <a:solidFill>
                  <a:srgbClr val="E74C3C"/>
                </a:solidFill>
                <a:ln/>
              </p:spPr>
              <p:txBody>
                <a:bodyPr/>
                <a:lstStyle/>
                <a:p>
                  <a:r>
                    <a:rPr lang="en-US" dirty="0"/>
                    <a:t>03</a:t>
                  </a:r>
                </a:p>
              </p:txBody>
            </p:sp>
            <p:sp>
              <p:nvSpPr>
                <p:cNvPr id="60" name="Text 5">
                  <a:extLst>
                    <a:ext uri="{FF2B5EF4-FFF2-40B4-BE49-F238E27FC236}">
                      <a16:creationId xmlns:a16="http://schemas.microsoft.com/office/drawing/2014/main" id="{43BD93DB-5431-B616-03FD-ED2E6D98DB17}"/>
                    </a:ext>
                  </a:extLst>
                </p:cNvPr>
                <p:cNvSpPr/>
                <p:nvPr/>
              </p:nvSpPr>
              <p:spPr>
                <a:xfrm>
                  <a:off x="792480" y="1114865"/>
                  <a:ext cx="3520440" cy="320743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algn="ctr"/>
                  <a:r>
                    <a:rPr lang="en-US" sz="1200" b="1" dirty="0">
                      <a:solidFill>
                        <a:srgbClr val="FFFFFF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CURRENT QUALITY RATINGS IN TARGET MARKETS</a:t>
                  </a:r>
                  <a:endParaRPr lang="en-US" sz="1200" dirty="0"/>
                </a:p>
                <a:p>
                  <a:pPr marL="0" indent="0">
                    <a:buNone/>
                  </a:pPr>
                  <a:endParaRPr lang="en-US" sz="1200" b="1" dirty="0">
                    <a:solidFill>
                      <a:srgbClr val="E74C3C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endParaRPr>
                </a:p>
              </p:txBody>
            </p:sp>
          </p:grpSp>
        </p:grp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FC4D5265-81AD-30BC-C863-7B211B413D66}"/>
                </a:ext>
              </a:extLst>
            </p:cNvPr>
            <p:cNvGrpSpPr/>
            <p:nvPr/>
          </p:nvGrpSpPr>
          <p:grpSpPr>
            <a:xfrm>
              <a:off x="150057" y="3121853"/>
              <a:ext cx="4251960" cy="429768"/>
              <a:chOff x="228600" y="1005840"/>
              <a:chExt cx="4251960" cy="429768"/>
            </a:xfrm>
          </p:grpSpPr>
          <p:sp>
            <p:nvSpPr>
              <p:cNvPr id="62" name="Shape 2">
                <a:extLst>
                  <a:ext uri="{FF2B5EF4-FFF2-40B4-BE49-F238E27FC236}">
                    <a16:creationId xmlns:a16="http://schemas.microsoft.com/office/drawing/2014/main" id="{3F6A4249-05DA-EB5B-DFCE-B83F9F963407}"/>
                  </a:ext>
                </a:extLst>
              </p:cNvPr>
              <p:cNvSpPr/>
              <p:nvPr/>
            </p:nvSpPr>
            <p:spPr>
              <a:xfrm>
                <a:off x="228600" y="1005840"/>
                <a:ext cx="4251960" cy="384048"/>
              </a:xfrm>
              <a:prstGeom prst="rect">
                <a:avLst/>
              </a:prstGeom>
              <a:solidFill>
                <a:srgbClr val="2C0A0A"/>
              </a:solidFill>
              <a:ln w="12700">
                <a:solidFill>
                  <a:srgbClr val="E74C3C"/>
                </a:solidFill>
                <a:prstDash val="solid"/>
              </a:ln>
              <a:effectLst>
                <a:outerShdw blurRad="76200" dist="25400" dir="8100000" algn="bl" rotWithShape="0">
                  <a:srgbClr val="000000">
                    <a:alpha val="30000"/>
                  </a:srgbClr>
                </a:outerShdw>
              </a:effectLst>
            </p:spPr>
            <p:txBody>
              <a:bodyPr/>
              <a:lstStyle/>
              <a:p>
                <a:endParaRPr lang="en-IN"/>
              </a:p>
            </p:txBody>
          </p:sp>
          <p:grpSp>
            <p:nvGrpSpPr>
              <p:cNvPr id="63" name="Group 62">
                <a:extLst>
                  <a:ext uri="{FF2B5EF4-FFF2-40B4-BE49-F238E27FC236}">
                    <a16:creationId xmlns:a16="http://schemas.microsoft.com/office/drawing/2014/main" id="{A40DBC27-8866-0FFE-7351-FB6285C5A528}"/>
                  </a:ext>
                </a:extLst>
              </p:cNvPr>
              <p:cNvGrpSpPr/>
              <p:nvPr/>
            </p:nvGrpSpPr>
            <p:grpSpPr>
              <a:xfrm>
                <a:off x="228600" y="1005840"/>
                <a:ext cx="4084320" cy="429768"/>
                <a:chOff x="228600" y="1005840"/>
                <a:chExt cx="4084320" cy="429768"/>
              </a:xfrm>
            </p:grpSpPr>
            <p:sp>
              <p:nvSpPr>
                <p:cNvPr id="64" name="Text 4">
                  <a:extLst>
                    <a:ext uri="{FF2B5EF4-FFF2-40B4-BE49-F238E27FC236}">
                      <a16:creationId xmlns:a16="http://schemas.microsoft.com/office/drawing/2014/main" id="{05BF91D7-F2AB-DFFA-7339-2C77270AA39E}"/>
                    </a:ext>
                  </a:extLst>
                </p:cNvPr>
                <p:cNvSpPr/>
                <p:nvPr/>
              </p:nvSpPr>
              <p:spPr>
                <a:xfrm>
                  <a:off x="228600" y="1005840"/>
                  <a:ext cx="502920" cy="384048"/>
                </a:xfrm>
                <a:prstGeom prst="rect">
                  <a:avLst/>
                </a:prstGeom>
                <a:solidFill>
                  <a:srgbClr val="E74C3C"/>
                </a:solidFill>
                <a:ln/>
              </p:spPr>
              <p:txBody>
                <a:bodyPr/>
                <a:lstStyle/>
                <a:p>
                  <a:r>
                    <a:rPr lang="en-US" dirty="0"/>
                    <a:t>04</a:t>
                  </a:r>
                </a:p>
              </p:txBody>
            </p:sp>
            <p:sp>
              <p:nvSpPr>
                <p:cNvPr id="65" name="Text 5">
                  <a:extLst>
                    <a:ext uri="{FF2B5EF4-FFF2-40B4-BE49-F238E27FC236}">
                      <a16:creationId xmlns:a16="http://schemas.microsoft.com/office/drawing/2014/main" id="{8336B250-8073-3DA9-0EA4-6CFEE20C7B70}"/>
                    </a:ext>
                  </a:extLst>
                </p:cNvPr>
                <p:cNvSpPr/>
                <p:nvPr/>
              </p:nvSpPr>
              <p:spPr>
                <a:xfrm>
                  <a:off x="792480" y="1114865"/>
                  <a:ext cx="3520440" cy="320743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algn="ctr"/>
                  <a:r>
                    <a:rPr lang="en-US" sz="1200" b="1" dirty="0">
                      <a:solidFill>
                        <a:srgbClr val="FFFFFF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FOOD EXPENDITURE IN TARGET MARKETS</a:t>
                  </a:r>
                  <a:endParaRPr lang="en-US" sz="1200" dirty="0"/>
                </a:p>
                <a:p>
                  <a:pPr marL="0" indent="0">
                    <a:buNone/>
                  </a:pPr>
                  <a:endParaRPr lang="en-US" sz="1200" b="1" dirty="0">
                    <a:solidFill>
                      <a:srgbClr val="E74C3C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endParaRPr>
                </a:p>
              </p:txBody>
            </p:sp>
          </p:grpSp>
        </p:grpSp>
      </p:grpSp>
      <p:sp>
        <p:nvSpPr>
          <p:cNvPr id="69" name="TextBox 68">
            <a:extLst>
              <a:ext uri="{FF2B5EF4-FFF2-40B4-BE49-F238E27FC236}">
                <a16:creationId xmlns:a16="http://schemas.microsoft.com/office/drawing/2014/main" id="{B41067C9-9745-24D2-E89F-968809224011}"/>
              </a:ext>
            </a:extLst>
          </p:cNvPr>
          <p:cNvSpPr txBox="1"/>
          <p:nvPr/>
        </p:nvSpPr>
        <p:spPr>
          <a:xfrm>
            <a:off x="1955996" y="1127254"/>
            <a:ext cx="45755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OF NEXT 7 SLIDES 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0438169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SELECTION: WHERE TO EXPAND?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1645920" cy="3200400"/>
          </a:xfrm>
          <a:prstGeom prst="rect">
            <a:avLst/>
          </a:prstGeom>
          <a:solidFill>
            <a:srgbClr val="F5F5F5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1645920" cy="27432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28600" y="9601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28600" y="1261872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2000" dirty="0">
              <a:solidFill>
                <a:srgbClr val="00B050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228600" y="1572768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/>
              <a:t>🇵🇭</a:t>
            </a:r>
          </a:p>
        </p:txBody>
      </p:sp>
      <p:sp>
        <p:nvSpPr>
          <p:cNvPr id="9" name="Text 7"/>
          <p:cNvSpPr/>
          <p:nvPr/>
        </p:nvSpPr>
        <p:spPr>
          <a:xfrm>
            <a:off x="228600" y="19202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Philippines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28600" y="2304288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RESTAURANTS</a:t>
            </a:r>
          </a:p>
        </p:txBody>
      </p:sp>
      <p:sp>
        <p:nvSpPr>
          <p:cNvPr id="11" name="Text 9"/>
          <p:cNvSpPr/>
          <p:nvPr/>
        </p:nvSpPr>
        <p:spPr>
          <a:xfrm>
            <a:off x="228600" y="24688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</a:p>
        </p:txBody>
      </p:sp>
      <p:sp>
        <p:nvSpPr>
          <p:cNvPr id="12" name="Text 10"/>
          <p:cNvSpPr/>
          <p:nvPr/>
        </p:nvSpPr>
        <p:spPr>
          <a:xfrm>
            <a:off x="228600" y="2816352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</a:t>
            </a:r>
            <a:r>
              <a:rPr lang="en-US" sz="8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</a:t>
            </a:r>
          </a:p>
        </p:txBody>
      </p:sp>
      <p:sp>
        <p:nvSpPr>
          <p:cNvPr id="13" name="Text 11"/>
          <p:cNvSpPr/>
          <p:nvPr/>
        </p:nvSpPr>
        <p:spPr>
          <a:xfrm>
            <a:off x="228600" y="298094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4.47</a:t>
            </a:r>
            <a:endParaRPr lang="en-US" sz="1600" b="1" dirty="0">
              <a:solidFill>
                <a:srgbClr val="1C1C1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28600" y="3328416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</a:t>
            </a:r>
            <a:r>
              <a:rPr lang="en-US" sz="8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VOTES</a:t>
            </a:r>
          </a:p>
        </p:txBody>
      </p:sp>
      <p:sp>
        <p:nvSpPr>
          <p:cNvPr id="15" name="Text 13"/>
          <p:cNvSpPr/>
          <p:nvPr/>
        </p:nvSpPr>
        <p:spPr>
          <a:xfrm>
            <a:off x="228600" y="349300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407</a:t>
            </a:r>
          </a:p>
        </p:txBody>
      </p:sp>
      <p:sp>
        <p:nvSpPr>
          <p:cNvPr id="16" name="Shape 14"/>
          <p:cNvSpPr/>
          <p:nvPr/>
        </p:nvSpPr>
        <p:spPr>
          <a:xfrm>
            <a:off x="1993392" y="966216"/>
            <a:ext cx="1645920" cy="3200400"/>
          </a:xfrm>
          <a:prstGeom prst="rect">
            <a:avLst/>
          </a:prstGeom>
          <a:solidFill>
            <a:srgbClr val="F5F5F5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1993392" y="960120"/>
            <a:ext cx="1645920" cy="27432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1993392" y="9601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993392" y="1261872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</a:t>
            </a:r>
            <a:endParaRPr lang="en-US" sz="2000" dirty="0">
              <a:solidFill>
                <a:srgbClr val="00B050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1993392" y="1572768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🇮🇩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993392" y="19202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Indonesia</a:t>
            </a:r>
            <a:endParaRPr lang="en-US" sz="1600" b="1" dirty="0">
              <a:solidFill>
                <a:srgbClr val="1C1C1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993392" y="2304288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RESTAURANTS</a:t>
            </a:r>
          </a:p>
        </p:txBody>
      </p:sp>
      <p:sp>
        <p:nvSpPr>
          <p:cNvPr id="23" name="Text 21"/>
          <p:cNvSpPr/>
          <p:nvPr/>
        </p:nvSpPr>
        <p:spPr>
          <a:xfrm>
            <a:off x="1993392" y="24688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</a:p>
        </p:txBody>
      </p:sp>
      <p:sp>
        <p:nvSpPr>
          <p:cNvPr id="24" name="Text 22"/>
          <p:cNvSpPr/>
          <p:nvPr/>
        </p:nvSpPr>
        <p:spPr>
          <a:xfrm>
            <a:off x="1993392" y="2816352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RATING</a:t>
            </a:r>
          </a:p>
        </p:txBody>
      </p:sp>
      <p:sp>
        <p:nvSpPr>
          <p:cNvPr id="25" name="Text 23"/>
          <p:cNvSpPr/>
          <p:nvPr/>
        </p:nvSpPr>
        <p:spPr>
          <a:xfrm>
            <a:off x="1993392" y="298094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4.30</a:t>
            </a:r>
          </a:p>
        </p:txBody>
      </p:sp>
      <p:sp>
        <p:nvSpPr>
          <p:cNvPr id="26" name="Text 24"/>
          <p:cNvSpPr/>
          <p:nvPr/>
        </p:nvSpPr>
        <p:spPr>
          <a:xfrm>
            <a:off x="1993392" y="3328416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VOTES</a:t>
            </a:r>
          </a:p>
        </p:txBody>
      </p:sp>
      <p:sp>
        <p:nvSpPr>
          <p:cNvPr id="27" name="Text 25"/>
          <p:cNvSpPr/>
          <p:nvPr/>
        </p:nvSpPr>
        <p:spPr>
          <a:xfrm>
            <a:off x="1993392" y="349300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772</a:t>
            </a:r>
          </a:p>
        </p:txBody>
      </p:sp>
      <p:sp>
        <p:nvSpPr>
          <p:cNvPr id="28" name="Shape 26"/>
          <p:cNvSpPr/>
          <p:nvPr/>
        </p:nvSpPr>
        <p:spPr>
          <a:xfrm>
            <a:off x="3758184" y="960120"/>
            <a:ext cx="1645920" cy="3200400"/>
          </a:xfrm>
          <a:prstGeom prst="rect">
            <a:avLst/>
          </a:prstGeom>
          <a:solidFill>
            <a:srgbClr val="F5F5F5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3758184" y="960120"/>
            <a:ext cx="1645920" cy="27432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3758184" y="9601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758184" y="1261872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3758184" y="1572768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🇹🇷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3758184" y="19202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Turkey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758184" y="2304288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758184" y="24688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3758184" y="2816352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RATING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758184" y="298094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4.30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3758184" y="3328416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VOTES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758184" y="349300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431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522976" y="960120"/>
            <a:ext cx="1645920" cy="3200400"/>
          </a:xfrm>
          <a:prstGeom prst="rect">
            <a:avLst/>
          </a:prstGeom>
          <a:solidFill>
            <a:srgbClr val="F5F5F5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5522976" y="960120"/>
            <a:ext cx="1645920" cy="27432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5522976" y="9601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522976" y="1261872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5522976" y="1572768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🇳🇿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5522976" y="19202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Zealand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522976" y="2304288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RESTAURANTS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522976" y="24688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5522976" y="2816352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RATING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522976" y="298094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4.26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5522976" y="3328416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VOTES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5522976" y="349300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243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7287768" y="960120"/>
            <a:ext cx="1645920" cy="3200400"/>
          </a:xfrm>
          <a:prstGeom prst="rect">
            <a:avLst/>
          </a:prstGeom>
          <a:solidFill>
            <a:srgbClr val="F5F5F5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3" name="Shape 51"/>
          <p:cNvSpPr/>
          <p:nvPr/>
        </p:nvSpPr>
        <p:spPr>
          <a:xfrm>
            <a:off x="7287768" y="960120"/>
            <a:ext cx="1645920" cy="27432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7287768" y="9601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7287768" y="1261872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</a:t>
            </a:r>
            <a:endParaRPr lang="en-US" sz="2000" dirty="0"/>
          </a:p>
        </p:txBody>
      </p:sp>
      <p:sp>
        <p:nvSpPr>
          <p:cNvPr id="56" name="Text 54"/>
          <p:cNvSpPr/>
          <p:nvPr/>
        </p:nvSpPr>
        <p:spPr>
          <a:xfrm>
            <a:off x="7287768" y="1572768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🇿🇦</a:t>
            </a:r>
            <a:endParaRPr lang="en-US" sz="2200" dirty="0"/>
          </a:p>
        </p:txBody>
      </p:sp>
      <p:sp>
        <p:nvSpPr>
          <p:cNvPr id="57" name="Text 55"/>
          <p:cNvSpPr/>
          <p:nvPr/>
        </p:nvSpPr>
        <p:spPr>
          <a:xfrm>
            <a:off x="7287768" y="19202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Africa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7287768" y="2304288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RESTAURANTS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7287768" y="24688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7287768" y="2816352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RATING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7287768" y="298094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4.21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7287768" y="3328416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VOTES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7287768" y="349300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315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228600" y="4297680"/>
            <a:ext cx="8686800" cy="640080"/>
          </a:xfrm>
          <a:prstGeom prst="rect">
            <a:avLst/>
          </a:prstGeom>
          <a:solidFill>
            <a:srgbClr val="FADBD8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Text 63"/>
          <p:cNvSpPr/>
          <p:nvPr/>
        </p:nvSpPr>
        <p:spPr>
          <a:xfrm>
            <a:off x="365760" y="42976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APPROACH: Restaurant count (saturation) × Avg Rating (quality signal) × Avg Votes (demand signal). Countries excluded: Canada (low votes=103, rating=3.58) and Singapore (votes=32). Excluded because despite low competition, demand signal is weak.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0A0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RECOMMENDATIONS BY COUNTRY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1005840"/>
            <a:ext cx="420624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4206240" cy="329184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6" name="Text 4"/>
          <p:cNvSpPr/>
          <p:nvPr/>
        </p:nvSpPr>
        <p:spPr>
          <a:xfrm>
            <a:off x="320040" y="1005840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🇵🇭 Philippines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29000" y="1005840"/>
            <a:ext cx="914400" cy="329184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429000" y="100584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38328" y="1463040"/>
            <a:ext cx="109728" cy="109728"/>
          </a:xfrm>
          <a:prstGeom prst="ellipse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21208" y="140817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Makati City (4.65 ⭐, 452 votes)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8328" y="1737360"/>
            <a:ext cx="109728" cy="109728"/>
          </a:xfrm>
          <a:prstGeom prst="ellipse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21208" y="168249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Pasig City (4.63 ⭐, 697 votes)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38328" y="2011680"/>
            <a:ext cx="109728" cy="109728"/>
          </a:xfrm>
          <a:prstGeom prst="ellipse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21208" y="195681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Taguig City (4.53 ⭐, 416 votes)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28600" y="2331720"/>
            <a:ext cx="420624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228600" y="2331720"/>
            <a:ext cx="4206240" cy="329184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20040" y="2331720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🇮🇩 Indonesia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429000" y="2331720"/>
            <a:ext cx="914400" cy="329184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9" name="Text 17"/>
          <p:cNvSpPr/>
          <p:nvPr/>
        </p:nvSpPr>
        <p:spPr>
          <a:xfrm>
            <a:off x="3429000" y="233172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38328" y="2788920"/>
            <a:ext cx="109728" cy="109728"/>
          </a:xfrm>
          <a:prstGeom prst="ellipse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21208" y="273405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Jakarta (4.36 ⭐</a:t>
            </a:r>
            <a:r>
              <a:rPr lang="en-US" sz="1050" dirty="0">
                <a:solidFill>
                  <a:srgbClr val="1C1C1C"/>
                </a:solidFill>
                <a:latin typeface="Segoe UI Emoji" panose="020B0502040204020203" pitchFamily="34" charset="0"/>
                <a:ea typeface="Segoe UI Emoji" panose="020B0502040204020203" pitchFamily="34" charset="0"/>
                <a:cs typeface="Calibri" pitchFamily="34" charset="-120"/>
              </a:rPr>
              <a:t> </a:t>
            </a:r>
            <a:r>
              <a:rPr lang="en-US" sz="10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743 votes)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38328" y="3063240"/>
            <a:ext cx="109728" cy="109728"/>
          </a:xfrm>
          <a:prstGeom prst="ellipse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21208" y="300837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Tangerang (4.30 ⭐, 1,184 votes – HIGHEST UNMET DEMAND)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4260" y="3330526"/>
            <a:ext cx="109728" cy="109728"/>
          </a:xfrm>
          <a:prstGeom prst="ellipse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521208" y="328269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Bandung (4.20 ⭐)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28600" y="3657600"/>
            <a:ext cx="420624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228600" y="3657600"/>
            <a:ext cx="4206240" cy="329184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320040" y="3657600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🇹🇷 Turkey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429000" y="3657600"/>
            <a:ext cx="914400" cy="329184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3429000" y="365760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38328" y="4114800"/>
            <a:ext cx="109728" cy="109728"/>
          </a:xfrm>
          <a:prstGeom prst="ellipse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521208" y="405993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İstanbul (4.29 ⭐, 860 votes)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38328" y="4389120"/>
            <a:ext cx="109728" cy="109728"/>
          </a:xfrm>
          <a:prstGeom prst="ellipse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521208" y="433425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Ankara (4.30 ⭐, 131 votes)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800600" y="1005840"/>
            <a:ext cx="420624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4800600" y="1005840"/>
            <a:ext cx="4206240" cy="329184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4892040" y="1005840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🇳🇿 New Zealand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8001000" y="1005840"/>
            <a:ext cx="914400" cy="329184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8001000" y="100584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910328" y="1463040"/>
            <a:ext cx="109728" cy="109728"/>
          </a:xfrm>
          <a:prstGeom prst="ellipse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5093208" y="140817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Auckland (4.28 ⭐, 340 votes)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910328" y="1737360"/>
            <a:ext cx="109728" cy="109728"/>
          </a:xfrm>
          <a:prstGeom prst="ellipse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5093208" y="168249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Wellington City (4.25 ⭐, 146 votes)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800600" y="2331720"/>
            <a:ext cx="420624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4800600" y="2331720"/>
            <a:ext cx="4206240" cy="329184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4892040" y="2331720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🇿🇦 South Africa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8001000" y="2331720"/>
            <a:ext cx="914400" cy="329184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8001000" y="233172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910328" y="2788920"/>
            <a:ext cx="109728" cy="109728"/>
          </a:xfrm>
          <a:prstGeom prst="ellipse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5093208" y="273405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City Johannesburg (4.90 ⭐ — HIGHEST RATED)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4910328" y="3063240"/>
            <a:ext cx="109728" cy="109728"/>
          </a:xfrm>
          <a:prstGeom prst="ellipse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5093208" y="300837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Sandton (4.30 ⭐, 492 votes)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4910328" y="3337560"/>
            <a:ext cx="109728" cy="109728"/>
          </a:xfrm>
          <a:prstGeom prst="ellipse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5093208" y="328269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 Town (4.11 ⭐)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QUALITY RATINGS IN TARGET MARKETS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113385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Philippines 🇵🇭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468880" y="1097280"/>
            <a:ext cx="5064862" cy="45720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468880" y="1097280"/>
            <a:ext cx="50648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96%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533742" y="1097280"/>
            <a:ext cx="238658" cy="457200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8" name="Text 6"/>
          <p:cNvSpPr/>
          <p:nvPr/>
        </p:nvSpPr>
        <p:spPr>
          <a:xfrm>
            <a:off x="7909560" y="1152144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95.5% Excellent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" y="1920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Zealand 🇳🇿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68880" y="1883664"/>
            <a:ext cx="4905756" cy="45720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468880" y="1891284"/>
            <a:ext cx="49057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93%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74636" y="1883664"/>
            <a:ext cx="265176" cy="457200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7639812" y="1883664"/>
            <a:ext cx="132588" cy="45720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7909560" y="1938528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92.5% Excellent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74320" y="270662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Turkey 🇹🇷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468880" y="2670048"/>
            <a:ext cx="4677705" cy="45720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2468880" y="2670048"/>
            <a:ext cx="46777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146585" y="2670048"/>
            <a:ext cx="466710" cy="457200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7613294" y="2670048"/>
            <a:ext cx="153802" cy="457200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7909560" y="2724912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88.2% Excellent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74320" y="349300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Indonesia 🇮🇩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468880" y="3456432"/>
            <a:ext cx="4295851" cy="45720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2468880" y="3456432"/>
            <a:ext cx="42958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81%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764731" y="3456432"/>
            <a:ext cx="758403" cy="457200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764731" y="3456432"/>
            <a:ext cx="75840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14%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523135" y="3456432"/>
            <a:ext cx="254569" cy="457200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7909560" y="3511296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81% Excellent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74320" y="427939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Africa 🇿🇦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468880" y="4242816"/>
            <a:ext cx="4152656" cy="45720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2468880" y="4242816"/>
            <a:ext cx="415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621536" y="4242816"/>
            <a:ext cx="1060704" cy="457200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6621536" y="4242816"/>
            <a:ext cx="1060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682240" y="4242816"/>
            <a:ext cx="90160" cy="457200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7909560" y="429768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78.3% Excellent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74320" y="4800600"/>
            <a:ext cx="228600" cy="164592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594360" y="477316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(≥4.0)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377440" y="4800600"/>
            <a:ext cx="228600" cy="164592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 dirty="0">
              <a:highlight>
                <a:srgbClr val="0000FF"/>
              </a:highlight>
            </a:endParaRPr>
          </a:p>
        </p:txBody>
      </p:sp>
      <p:sp>
        <p:nvSpPr>
          <p:cNvPr id="38" name="Text 36"/>
          <p:cNvSpPr/>
          <p:nvPr/>
        </p:nvSpPr>
        <p:spPr>
          <a:xfrm>
            <a:off x="2697480" y="477316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(3.5-3.9)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480560" y="4800600"/>
            <a:ext cx="228600" cy="164592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4800600" y="477316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(3.0-3.4)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583680" y="4800600"/>
            <a:ext cx="228600" cy="164592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6903720" y="477316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(&lt;3.0)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88620" y="608076"/>
            <a:ext cx="8595360" cy="274320"/>
          </a:xfrm>
          <a:prstGeom prst="rect">
            <a:avLst/>
          </a:prstGeom>
          <a:solidFill>
            <a:srgbClr val="FADBD8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4" name="Text 42"/>
          <p:cNvSpPr/>
          <p:nvPr/>
        </p:nvSpPr>
        <p:spPr>
          <a:xfrm>
            <a:off x="502920" y="608076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Philippines leads with 95.5% excellent ratings. The competitive bar is very high — new entries must aim for ratings above 4.0 to compete effectively.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0A0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EXPENDITURE IN TARGET MARKETS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859536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73152" cy="713232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11480" y="1115568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💰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10972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Turkey 🇹🇷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68680" y="1435608"/>
            <a:ext cx="3200400" cy="128016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868680" y="1435608"/>
            <a:ext cx="2256282" cy="128016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868680" y="1554480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Price Range: 2.82 / 4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54880" y="1115568"/>
            <a:ext cx="2011680" cy="45720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754880" y="1115568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Spend (INR)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754880" y="126187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₹7,501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949440" y="1188720"/>
            <a:ext cx="1645920" cy="320040"/>
          </a:xfrm>
          <a:prstGeom prst="rect">
            <a:avLst/>
          </a:prstGeom>
          <a:solidFill>
            <a:srgbClr val="27AE60">
              <a:alpha val="7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949440" y="11887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BUDGET-FRIENDLY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1792224"/>
            <a:ext cx="859536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274320" y="1792224"/>
            <a:ext cx="73152" cy="713232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11480" y="1901952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💰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68680" y="188366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Indonesia 🇮🇩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68680" y="2221992"/>
            <a:ext cx="3200400" cy="128016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868680" y="2221992"/>
            <a:ext cx="2360295" cy="128016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868680" y="2340864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Price Range: 2.95 / 4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54880" y="1901952"/>
            <a:ext cx="2011680" cy="45720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754880" y="1901952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Spend (INR)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754880" y="204825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₹30,706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949440" y="1975104"/>
            <a:ext cx="1645920" cy="320040"/>
          </a:xfrm>
          <a:prstGeom prst="rect">
            <a:avLst/>
          </a:prstGeom>
          <a:solidFill>
            <a:srgbClr val="27AE60">
              <a:alpha val="7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949440" y="197510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BUDGET-FRIENDLY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74320" y="2578608"/>
            <a:ext cx="859536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274320" y="2578608"/>
            <a:ext cx="73152" cy="713232"/>
          </a:xfrm>
          <a:prstGeom prst="rect">
            <a:avLst/>
          </a:prstGeom>
          <a:solidFill>
            <a:srgbClr val="D4AC0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11480" y="2688336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💵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868680" y="267004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Africa 🇿🇦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68680" y="3008376"/>
            <a:ext cx="3200400" cy="128016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868680" y="3008376"/>
            <a:ext cx="2864358" cy="128016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868680" y="3127248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Price Range: 3.58 / 4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54880" y="2688336"/>
            <a:ext cx="2011680" cy="457200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754880" y="2688336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Spend (INR)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754880" y="28346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₹1,15,846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949440" y="2761488"/>
            <a:ext cx="1645920" cy="320040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6949440" y="276148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74320" y="3364992"/>
            <a:ext cx="859536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274320" y="3364992"/>
            <a:ext cx="73152" cy="713232"/>
          </a:xfrm>
          <a:prstGeom prst="rect">
            <a:avLst/>
          </a:prstGeom>
          <a:solidFill>
            <a:srgbClr val="D4AC0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411480" y="347472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💵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868680" y="345643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Zealand 🇳🇿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868680" y="3794760"/>
            <a:ext cx="3200400" cy="128016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868680" y="3794760"/>
            <a:ext cx="2520315" cy="128016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868680" y="3913632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Price Range: 3.15 / 4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754880" y="3474720"/>
            <a:ext cx="2011680" cy="457200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4754880" y="347472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Spend (INR)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4754880" y="362102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₹1,42,290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6949440" y="3547872"/>
            <a:ext cx="1645920" cy="320040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6949440" y="354787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274320" y="4151376"/>
            <a:ext cx="859536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3" name="Shape 51"/>
          <p:cNvSpPr/>
          <p:nvPr/>
        </p:nvSpPr>
        <p:spPr>
          <a:xfrm>
            <a:off x="274320" y="4151376"/>
            <a:ext cx="73152" cy="713232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411480" y="4261104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💸</a:t>
            </a:r>
            <a:endParaRPr lang="en-US" sz="2000" dirty="0"/>
          </a:p>
        </p:txBody>
      </p:sp>
      <p:sp>
        <p:nvSpPr>
          <p:cNvPr id="55" name="Text 53"/>
          <p:cNvSpPr/>
          <p:nvPr/>
        </p:nvSpPr>
        <p:spPr>
          <a:xfrm>
            <a:off x="868680" y="424281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Philippines 🇵🇭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868680" y="4581144"/>
            <a:ext cx="3200400" cy="128016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7" name="Shape 55"/>
          <p:cNvSpPr/>
          <p:nvPr/>
        </p:nvSpPr>
        <p:spPr>
          <a:xfrm>
            <a:off x="868680" y="4581144"/>
            <a:ext cx="2688336" cy="128016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868680" y="4700016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Price Range: 3.36 / 4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754880" y="4261104"/>
            <a:ext cx="2011680" cy="45720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4754880" y="4261104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Spend (INR)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4754880" y="440740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₹2,15,635</a:t>
            </a:r>
            <a:endParaRPr lang="en-US" sz="1400" dirty="0"/>
          </a:p>
        </p:txBody>
      </p:sp>
      <p:sp>
        <p:nvSpPr>
          <p:cNvPr id="62" name="Shape 60"/>
          <p:cNvSpPr/>
          <p:nvPr/>
        </p:nvSpPr>
        <p:spPr>
          <a:xfrm>
            <a:off x="6949440" y="4334256"/>
            <a:ext cx="1645920" cy="320040"/>
          </a:xfrm>
          <a:prstGeom prst="rect">
            <a:avLst/>
          </a:prstGeom>
          <a:solidFill>
            <a:srgbClr val="E74C3C">
              <a:alpha val="7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3" name="Text 61"/>
          <p:cNvSpPr/>
          <p:nvPr/>
        </p:nvSpPr>
        <p:spPr>
          <a:xfrm>
            <a:off x="6949440" y="4334256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 IN TARGET MARKETS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10058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COMPETITORS (Rating ≥ 4.5)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4754880" cy="59436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54864" cy="59436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57200" y="1472184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Talaga Sampireun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71907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Indonesia 🇮🇩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0" y="1472184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4.9  |  1,838 votes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0" y="171907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locations, major chain!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2103120"/>
            <a:ext cx="4754880" cy="59436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74320" y="2103120"/>
            <a:ext cx="54864" cy="59436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57200" y="2157984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Starbucks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240487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Turkey 🇹🇷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00400" y="2157984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4.9  |  1,042 votes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00400" y="240487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café segment leader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2788920"/>
            <a:ext cx="4754880" cy="59436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274320" y="2788920"/>
            <a:ext cx="54864" cy="59436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57200" y="2843784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J'adore Chocolatier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309067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Turkey 🇹🇷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00400" y="2843784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4.7  |  1,311 votes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00400" y="309067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Dessert &amp; café concept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" y="3474720"/>
            <a:ext cx="4754880" cy="59436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274320" y="3474720"/>
            <a:ext cx="54864" cy="59436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57200" y="3529584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Toodz House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377647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Indonesia 🇮🇩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200400" y="3529584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4.6  |  1,476 votes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200400" y="377647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High-volume outlet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212080" y="1005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LOW-RATED RESTAURANTS (Below 3.0 – Opportunity)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212080" y="1371600"/>
            <a:ext cx="3657600" cy="1280160"/>
          </a:xfrm>
          <a:prstGeom prst="rect">
            <a:avLst/>
          </a:prstGeom>
          <a:solidFill>
            <a:srgbClr val="1A0A0A"/>
          </a:solidFill>
          <a:ln/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5394960" y="1463040"/>
            <a:ext cx="3383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Fontein Belgian Beer Cafe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Zealand 🇳🇿 | Rating: 2.3 | 402 votes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ONLY sub-3.0 restaurant across all 5 recommended markets — confirming the overwhelmingly high-quality competitive environment.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212080" y="2743200"/>
            <a:ext cx="3657600" cy="224028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5212080" y="274320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INSIGHT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303520" y="3127248"/>
            <a:ext cx="137160" cy="137160"/>
          </a:xfrm>
          <a:prstGeom prst="ellipse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5532120" y="309067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Talaga Sampireun's multi-location model in Indonesia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303520" y="3584448"/>
            <a:ext cx="137160" cy="137160"/>
          </a:xfrm>
          <a:prstGeom prst="ellipse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532120" y="354787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Silantro Fil-Mex &amp; Ooma are high-traffic in Philippines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303520" y="4041648"/>
            <a:ext cx="137160" cy="137160"/>
          </a:xfrm>
          <a:prstGeom prst="ellipse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5532120" y="400507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leaves little room for low-quality offerings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303520" y="4498848"/>
            <a:ext cx="137160" cy="137160"/>
          </a:xfrm>
          <a:prstGeom prst="ellipse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5532120" y="446227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premium quality to survive in these markets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0A0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CUISINE STRATEGY &amp; SERVICE MODEL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10058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CUISINES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411480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457200" cy="59436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274320" y="141732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⭐4.9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" y="1472184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Sunda / Indonesian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22960" y="1719072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Indonesia  |  Highest demand — local advantage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2084832"/>
            <a:ext cx="411480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274320" y="2084832"/>
            <a:ext cx="457200" cy="59436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274320" y="2084832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⭐4.9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22960" y="2139696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Food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22960" y="2386584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Turkey  |  Istanbul specialty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2752344"/>
            <a:ext cx="411480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274320" y="2752344"/>
            <a:ext cx="457200" cy="59436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274320" y="2752344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⭐4.6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22960" y="2807208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Desserts &amp; Bakery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22960" y="3054096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Indonesia  |  Cross-market appeal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3419856"/>
            <a:ext cx="411480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74320" y="3419856"/>
            <a:ext cx="457200" cy="59436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274320" y="3419856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⭐4.6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22960" y="3474720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Cafe / Fusion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22960" y="3721608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NZ / PH  |  Urban positioning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4087368"/>
            <a:ext cx="411480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274320" y="4087368"/>
            <a:ext cx="457200" cy="59436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74320" y="4087368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⭐4.5+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22960" y="4142232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Italian / European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22960" y="4389120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  |  Premium segment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754880" y="10058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DELIVERY &amp; TABLE BOOKING IMPACT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754880" y="1371600"/>
            <a:ext cx="4206240" cy="320040"/>
          </a:xfrm>
          <a:prstGeom prst="rect">
            <a:avLst/>
          </a:prstGeom>
          <a:solidFill>
            <a:srgbClr val="1A0A0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754880" y="137160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Booking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760720" y="137160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Delivery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766560" y="137160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Rating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772400" y="137160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54880" y="1737360"/>
            <a:ext cx="4206240" cy="530352"/>
          </a:xfrm>
          <a:prstGeom prst="rect">
            <a:avLst/>
          </a:prstGeom>
          <a:solidFill>
            <a:srgbClr val="FFF9E6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4754880" y="1737360"/>
            <a:ext cx="1005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</a:p>
        </p:txBody>
      </p:sp>
      <p:sp>
        <p:nvSpPr>
          <p:cNvPr id="38" name="Text 36"/>
          <p:cNvSpPr/>
          <p:nvPr/>
        </p:nvSpPr>
        <p:spPr>
          <a:xfrm>
            <a:off x="5760720" y="1737360"/>
            <a:ext cx="1005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</a:p>
        </p:txBody>
      </p:sp>
      <p:sp>
        <p:nvSpPr>
          <p:cNvPr id="39" name="Text 37"/>
          <p:cNvSpPr/>
          <p:nvPr/>
        </p:nvSpPr>
        <p:spPr>
          <a:xfrm>
            <a:off x="6766560" y="1737360"/>
            <a:ext cx="1005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3.60</a:t>
            </a:r>
          </a:p>
        </p:txBody>
      </p:sp>
      <p:sp>
        <p:nvSpPr>
          <p:cNvPr id="40" name="Shape 38"/>
          <p:cNvSpPr/>
          <p:nvPr/>
        </p:nvSpPr>
        <p:spPr>
          <a:xfrm>
            <a:off x="7772400" y="1828800"/>
            <a:ext cx="1097280" cy="32004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7772400" y="1828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OUTCOME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4754880" y="2331720"/>
            <a:ext cx="4206240" cy="53035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4754880" y="2331720"/>
            <a:ext cx="1005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760720" y="2331720"/>
            <a:ext cx="1005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766560" y="2331720"/>
            <a:ext cx="1005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3.22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7772400" y="2423160"/>
            <a:ext cx="1097280" cy="32004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7772400" y="24231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BOOKING DRIVES QUALITY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4754880" y="2926080"/>
            <a:ext cx="4206240" cy="53035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4754880" y="2926080"/>
            <a:ext cx="1005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5760720" y="2926080"/>
            <a:ext cx="1005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6766560" y="2926080"/>
            <a:ext cx="1005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3.41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7772400" y="3017520"/>
            <a:ext cx="1097280" cy="32004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7772400" y="30175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HELPS TOO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4754880" y="3520440"/>
            <a:ext cx="4206240" cy="53035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4754880" y="3520440"/>
            <a:ext cx="1005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56" name="Text 54"/>
          <p:cNvSpPr/>
          <p:nvPr/>
        </p:nvSpPr>
        <p:spPr>
          <a:xfrm>
            <a:off x="5760720" y="3520440"/>
            <a:ext cx="1005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57" name="Text 55"/>
          <p:cNvSpPr/>
          <p:nvPr/>
        </p:nvSpPr>
        <p:spPr>
          <a:xfrm>
            <a:off x="6766560" y="3520440"/>
            <a:ext cx="1005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2.68</a:t>
            </a:r>
            <a:endParaRPr lang="en-US" sz="16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58" name="Shape 56"/>
          <p:cNvSpPr/>
          <p:nvPr/>
        </p:nvSpPr>
        <p:spPr>
          <a:xfrm>
            <a:off x="7772400" y="3611880"/>
            <a:ext cx="1097280" cy="320040"/>
          </a:xfrm>
          <a:prstGeom prst="rect">
            <a:avLst/>
          </a:prstGeom>
          <a:solidFill>
            <a:srgbClr val="5D6D7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7772400" y="36118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RATED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4754880" y="4297680"/>
            <a:ext cx="4206240" cy="502920"/>
          </a:xfrm>
          <a:prstGeom prst="rect">
            <a:avLst/>
          </a:prstGeom>
          <a:solidFill>
            <a:srgbClr val="FADBD8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Text 59"/>
          <p:cNvSpPr/>
          <p:nvPr/>
        </p:nvSpPr>
        <p:spPr>
          <a:xfrm>
            <a:off x="4846320" y="429768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RECOMMENDATION: Implement BOTH online delivery AND table booking. The combination yields the highest avg rating of 3.60 vs. 2.68 for neither.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160" y="0"/>
            <a:ext cx="9144000" cy="91440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STRATEGY: CORRELATION &amp; DISTRIBUTION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960120"/>
            <a:ext cx="5029200" cy="32004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r>
              <a:rPr lang="en-US" dirty="0"/>
              <a:t>Price Range vs Average Rating (Positive Correlation)</a:t>
            </a:r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4754880" cy="7772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74320" y="1371600"/>
            <a:ext cx="73152" cy="777240"/>
          </a:xfrm>
          <a:prstGeom prst="rect">
            <a:avLst/>
          </a:prstGeom>
          <a:solidFill>
            <a:srgbClr val="5D6D7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57200" y="142646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– Cheap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4,444 restaurants  |  Avg Cost: ₹275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938528"/>
            <a:ext cx="2743200" cy="128016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57200" y="1930908"/>
            <a:ext cx="1305763" cy="128016"/>
          </a:xfrm>
          <a:prstGeom prst="rect">
            <a:avLst/>
          </a:prstGeom>
          <a:solidFill>
            <a:srgbClr val="5D6D7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291840" y="1901952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2.38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74320" y="2240280"/>
            <a:ext cx="4754880" cy="7772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274320" y="2240280"/>
            <a:ext cx="73152" cy="77724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57200" y="229514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– Moderate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25603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3,113 restaurants  |  Avg Cost: ₹597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807208"/>
            <a:ext cx="2743200" cy="128016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57200" y="2807208"/>
            <a:ext cx="1684325" cy="128016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291840" y="2770632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3.07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74320" y="3108960"/>
            <a:ext cx="4754880" cy="7772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274320" y="3108960"/>
            <a:ext cx="73152" cy="77724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57200" y="316382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– Expensive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34290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1,408 restaurants  |  Avg Cost: ₹5,177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675888"/>
            <a:ext cx="2743200" cy="128016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457200" y="3675888"/>
            <a:ext cx="2035454" cy="128016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3291840" y="3639312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3.71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274320" y="3977640"/>
            <a:ext cx="4754880" cy="7772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274320" y="3977640"/>
            <a:ext cx="73152" cy="77724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57200" y="403250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– Very Exp.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42976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586 restaurants  |  Avg Cost: ₹1,849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4544568"/>
            <a:ext cx="2743200" cy="128016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457200" y="4544568"/>
            <a:ext cx="2106778" cy="128016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291840" y="4507992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3.84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285232" y="98755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Distribution: Target Markets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303520" y="14447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Africa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7040880" y="1463040"/>
            <a:ext cx="128016" cy="41148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7168896" y="1463040"/>
            <a:ext cx="512064" cy="4114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7168896" y="1463040"/>
            <a:ext cx="5120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680960" y="1463040"/>
            <a:ext cx="1188720" cy="41148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7680960" y="146304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961120" y="1527048"/>
            <a:ext cx="18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" dirty="0">
                <a:solidFill>
                  <a:srgbClr val="FFFFFF"/>
                </a:solidFill>
              </a:rPr>
              <a:t>Premium-heavy</a:t>
            </a:r>
            <a:endParaRPr lang="en-US" sz="100" dirty="0"/>
          </a:p>
        </p:txBody>
      </p:sp>
      <p:sp>
        <p:nvSpPr>
          <p:cNvPr id="41" name="Text 39"/>
          <p:cNvSpPr/>
          <p:nvPr/>
        </p:nvSpPr>
        <p:spPr>
          <a:xfrm>
            <a:off x="5303520" y="21305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Philippines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7040880" y="2148840"/>
            <a:ext cx="91440" cy="41148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7132320" y="2148840"/>
            <a:ext cx="1005840" cy="4114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7132320" y="214884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8138160" y="2148840"/>
            <a:ext cx="731520" cy="41148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8138160" y="214884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8961120" y="2212848"/>
            <a:ext cx="18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" dirty="0">
                <a:solidFill>
                  <a:srgbClr val="FFFFFF"/>
                </a:solidFill>
              </a:rPr>
              <a:t>Mid-premium</a:t>
            </a:r>
            <a:endParaRPr lang="en-US" sz="100" dirty="0"/>
          </a:p>
        </p:txBody>
      </p:sp>
      <p:sp>
        <p:nvSpPr>
          <p:cNvPr id="48" name="Text 46"/>
          <p:cNvSpPr/>
          <p:nvPr/>
        </p:nvSpPr>
        <p:spPr>
          <a:xfrm>
            <a:off x="5303520" y="2816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Indonesia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7040880" y="2834640"/>
            <a:ext cx="91440" cy="41148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0" name="Shape 48"/>
          <p:cNvSpPr/>
          <p:nvPr/>
        </p:nvSpPr>
        <p:spPr>
          <a:xfrm>
            <a:off x="7132320" y="2834640"/>
            <a:ext cx="1737360" cy="4114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7132320" y="28346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8961120" y="2898648"/>
            <a:ext cx="18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" dirty="0">
                <a:solidFill>
                  <a:srgbClr val="FFFFFF"/>
                </a:solidFill>
              </a:rPr>
              <a:t>Mid-premium dom.</a:t>
            </a:r>
            <a:endParaRPr lang="en-US" sz="100" dirty="0"/>
          </a:p>
        </p:txBody>
      </p:sp>
      <p:sp>
        <p:nvSpPr>
          <p:cNvPr id="53" name="Text 51"/>
          <p:cNvSpPr/>
          <p:nvPr/>
        </p:nvSpPr>
        <p:spPr>
          <a:xfrm>
            <a:off x="5303520" y="35021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Zealand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7040880" y="3520440"/>
            <a:ext cx="128016" cy="411480"/>
          </a:xfrm>
          <a:prstGeom prst="rect">
            <a:avLst/>
          </a:prstGeom>
          <a:solidFill>
            <a:srgbClr val="5D6D7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5" name="Shape 53"/>
          <p:cNvSpPr/>
          <p:nvPr/>
        </p:nvSpPr>
        <p:spPr>
          <a:xfrm>
            <a:off x="7168896" y="3520440"/>
            <a:ext cx="182880" cy="41148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7351776" y="3520440"/>
            <a:ext cx="768096" cy="4114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7351776" y="3520440"/>
            <a:ext cx="768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42%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8119872" y="3520440"/>
            <a:ext cx="731520" cy="41148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8119872" y="352044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8961120" y="3584448"/>
            <a:ext cx="18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" dirty="0">
                <a:solidFill>
                  <a:srgbClr val="FFFFFF"/>
                </a:solidFill>
              </a:rPr>
              <a:t>Balanced</a:t>
            </a:r>
            <a:endParaRPr lang="en-US" sz="100" dirty="0"/>
          </a:p>
        </p:txBody>
      </p:sp>
      <p:sp>
        <p:nvSpPr>
          <p:cNvPr id="61" name="Text 59"/>
          <p:cNvSpPr/>
          <p:nvPr/>
        </p:nvSpPr>
        <p:spPr>
          <a:xfrm>
            <a:off x="5303520" y="41879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Turkey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7040880" y="4206240"/>
            <a:ext cx="585216" cy="41148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3" name="Text 61"/>
          <p:cNvSpPr/>
          <p:nvPr/>
        </p:nvSpPr>
        <p:spPr>
          <a:xfrm>
            <a:off x="7040880" y="4206240"/>
            <a:ext cx="585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/>
              <a:t>32%</a:t>
            </a:r>
          </a:p>
        </p:txBody>
      </p:sp>
      <p:sp>
        <p:nvSpPr>
          <p:cNvPr id="64" name="Shape 62"/>
          <p:cNvSpPr/>
          <p:nvPr/>
        </p:nvSpPr>
        <p:spPr>
          <a:xfrm>
            <a:off x="7626096" y="4206240"/>
            <a:ext cx="969264" cy="4114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65" name="Text 63"/>
          <p:cNvSpPr/>
          <p:nvPr/>
        </p:nvSpPr>
        <p:spPr>
          <a:xfrm>
            <a:off x="7626096" y="4206240"/>
            <a:ext cx="969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53%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8595360" y="4206240"/>
            <a:ext cx="274320" cy="411480"/>
          </a:xfrm>
          <a:prstGeom prst="rect">
            <a:avLst/>
          </a:prstGeom>
          <a:solidFill>
            <a:srgbClr val="D4AC0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7" name="Text 65"/>
          <p:cNvSpPr/>
          <p:nvPr/>
        </p:nvSpPr>
        <p:spPr>
          <a:xfrm>
            <a:off x="8595360" y="4206240"/>
            <a:ext cx="274320" cy="41148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 sz="400" dirty="0"/>
          </a:p>
          <a:p>
            <a:endParaRPr lang="en-US" sz="400" dirty="0"/>
          </a:p>
        </p:txBody>
      </p:sp>
      <p:sp>
        <p:nvSpPr>
          <p:cNvPr id="68" name="Text 66"/>
          <p:cNvSpPr/>
          <p:nvPr/>
        </p:nvSpPr>
        <p:spPr>
          <a:xfrm>
            <a:off x="8961120" y="4270248"/>
            <a:ext cx="18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" dirty="0">
                <a:solidFill>
                  <a:srgbClr val="FFFFFF"/>
                </a:solidFill>
              </a:rPr>
              <a:t>Mid-range</a:t>
            </a:r>
            <a:endParaRPr lang="en-US" sz="100" dirty="0"/>
          </a:p>
        </p:txBody>
      </p:sp>
      <p:sp>
        <p:nvSpPr>
          <p:cNvPr id="69" name="Shape 67"/>
          <p:cNvSpPr/>
          <p:nvPr/>
        </p:nvSpPr>
        <p:spPr>
          <a:xfrm>
            <a:off x="274320" y="4800600"/>
            <a:ext cx="8595360" cy="320040"/>
          </a:xfrm>
          <a:prstGeom prst="rect">
            <a:avLst/>
          </a:prstGeom>
          <a:solidFill>
            <a:srgbClr val="FADBD8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Text 68"/>
          <p:cNvSpPr/>
          <p:nvPr/>
        </p:nvSpPr>
        <p:spPr>
          <a:xfrm>
            <a:off x="411480" y="480060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PRICING RECOMMENDATION: Position in Price Range 3–4 (Expensive/Very Expensive). Clear positive correlation — higher price = better perceived quality and ratings.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OVERVIEW &amp; KEY METRICS</a:t>
            </a:r>
            <a:endParaRPr lang="en-US" sz="2200" dirty="0"/>
          </a:p>
        </p:txBody>
      </p:sp>
      <p:sp>
        <p:nvSpPr>
          <p:cNvPr id="34" name="Shape 32"/>
          <p:cNvSpPr/>
          <p:nvPr/>
        </p:nvSpPr>
        <p:spPr>
          <a:xfrm>
            <a:off x="274321" y="4663440"/>
            <a:ext cx="8595360" cy="32004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342901" y="466344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Full interactive dashboard with dynamic slicers available in the Excel workbook — filter by country, price range, year, cuisine, delivery/booking status.</a:t>
            </a:r>
            <a:endParaRPr lang="en-US" sz="1050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D61EC3BE-B8C5-BC71-FCF1-221193AB7E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1" y="981049"/>
            <a:ext cx="8595360" cy="361635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STRATEGIC RECOMMENDATIONS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1005840"/>
            <a:ext cx="4251960" cy="1207008"/>
          </a:xfrm>
          <a:prstGeom prst="rect">
            <a:avLst/>
          </a:prstGeom>
          <a:solidFill>
            <a:srgbClr val="2C0A0A"/>
          </a:solidFill>
          <a:ln w="12700">
            <a:solidFill>
              <a:srgbClr val="E74C3C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502920" cy="1207008"/>
          </a:xfrm>
          <a:prstGeom prst="rect">
            <a:avLst/>
          </a:prstGeom>
          <a:solidFill>
            <a:srgbClr val="D4AC0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28600" y="1005840"/>
            <a:ext cx="502920" cy="1207008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r>
              <a:rPr lang="en-US"/>
              <a:t>01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Priorities</a:t>
            </a:r>
            <a:r>
              <a:rPr lang="en-US" sz="1200" b="1" dirty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Philippines</a:t>
            </a:r>
            <a:r>
              <a:rPr lang="en-US" sz="1200" b="1" dirty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Indonesia</a:t>
            </a:r>
          </a:p>
        </p:txBody>
      </p:sp>
      <p:sp>
        <p:nvSpPr>
          <p:cNvPr id="8" name="Text 6"/>
          <p:cNvSpPr/>
          <p:nvPr/>
        </p:nvSpPr>
        <p:spPr>
          <a:xfrm>
            <a:off x="822960" y="1389888"/>
            <a:ext cx="3520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competition, highest ratings (4.47 &amp; 4.30), and strongest vote counts signal extremely high unmet demand. Enter with Sunda cuisine in Jakarta &amp; Makati City.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" y="2304288"/>
            <a:ext cx="4251960" cy="1207008"/>
          </a:xfrm>
          <a:prstGeom prst="rect">
            <a:avLst/>
          </a:prstGeom>
          <a:solidFill>
            <a:srgbClr val="2C0A0A"/>
          </a:solidFill>
          <a:ln w="12700">
            <a:solidFill>
              <a:srgbClr val="E74C3C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28600" y="2304288"/>
            <a:ext cx="502920" cy="1207008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28600" y="2304288"/>
            <a:ext cx="50292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2395728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Turkey &amp; New Zealand as Secondary Markets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2688336"/>
            <a:ext cx="3520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Istanbul (860 avg votes) and Auckland (340 avg votes) offer excellent quality benchmarks with room for new premium entrants. Price Range 3–4 recommended.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8600" y="3602736"/>
            <a:ext cx="4251960" cy="1207008"/>
          </a:xfrm>
          <a:prstGeom prst="rect">
            <a:avLst/>
          </a:prstGeom>
          <a:solidFill>
            <a:srgbClr val="2C0A0A"/>
          </a:solidFill>
          <a:ln w="12700">
            <a:solidFill>
              <a:srgbClr val="E74C3C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28600" y="3602736"/>
            <a:ext cx="502920" cy="1207008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228600" y="3602736"/>
            <a:ext cx="50292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3694176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Africa for Premium Segment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3986784"/>
            <a:ext cx="3520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City Johannesburg has 4.90 avg rating with very low competition. Position as a premium restaurant in the Sandton/Johannesburg area.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00600" y="1005840"/>
            <a:ext cx="4251960" cy="1207008"/>
          </a:xfrm>
          <a:prstGeom prst="rect">
            <a:avLst/>
          </a:prstGeom>
          <a:solidFill>
            <a:srgbClr val="2C0A0A"/>
          </a:solidFill>
          <a:ln w="12700">
            <a:solidFill>
              <a:srgbClr val="C0392B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800600" y="1005840"/>
            <a:ext cx="502920" cy="1207008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800600" y="1005840"/>
            <a:ext cx="50292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94960" y="109728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Model: Both Delivery &amp; Table Booking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94960" y="1389888"/>
            <a:ext cx="3520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Restaurants offering BOTH features achieve avg rating 3.60 vs 2.68 for neither. Full digital service adoption is non-negotiable.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00600" y="2304288"/>
            <a:ext cx="4251960" cy="1207008"/>
          </a:xfrm>
          <a:prstGeom prst="rect">
            <a:avLst/>
          </a:prstGeom>
          <a:solidFill>
            <a:srgbClr val="2C0A0A"/>
          </a:solidFill>
          <a:ln w="12700">
            <a:solidFill>
              <a:srgbClr val="C0392B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4800600" y="2304288"/>
            <a:ext cx="502920" cy="1207008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800600" y="2304288"/>
            <a:ext cx="50292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94960" y="2395728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Cuisine &amp; Pricing Formula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94960" y="2688336"/>
            <a:ext cx="3520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local/regional cuisines + fusion concepts + desserts. Maintain Price Range 3+ — clear correlation shows higher pricing = better perceived quality.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1534</TotalTime>
  <Words>1970</Words>
  <Application>Microsoft Office PowerPoint</Application>
  <PresentationFormat>On-screen Show (16:9)</PresentationFormat>
  <Paragraphs>395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Segoe UI Emoji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Zomato Restaurant Expansion Analysis</dc:title>
  <dc:subject>PptxGenJS Presentation</dc:subject>
  <dc:creator>Data Analysis Team</dc:creator>
  <cp:lastModifiedBy>Sonal Bhosale</cp:lastModifiedBy>
  <cp:revision>6</cp:revision>
  <dcterms:created xsi:type="dcterms:W3CDTF">2026-04-22T07:50:19Z</dcterms:created>
  <dcterms:modified xsi:type="dcterms:W3CDTF">2026-05-11T06:24:48Z</dcterms:modified>
</cp:coreProperties>
</file>